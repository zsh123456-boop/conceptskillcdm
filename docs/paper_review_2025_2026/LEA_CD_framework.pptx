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106775" cy="8858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83"/>
  </p:normalViewPr>
  <p:slideViewPr>
    <p:cSldViewPr snapToGrid="0">
      <p:cViewPr>
        <p:scale>
          <a:sx n="157" d="100"/>
          <a:sy n="157" d="100"/>
        </p:scale>
        <p:origin x="19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F452F21-19A1-4227-BE83-23583589D25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05320" y="353160"/>
            <a:ext cx="14495400" cy="147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805320" y="2072520"/>
            <a:ext cx="14495400" cy="513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圆角矩形 374">
            <a:extLst>
              <a:ext uri="{FF2B5EF4-FFF2-40B4-BE49-F238E27FC236}">
                <a16:creationId xmlns:a16="http://schemas.microsoft.com/office/drawing/2014/main" id="{8A9C973F-CFD4-5892-D3F9-5A8B6B6E045D}"/>
              </a:ext>
            </a:extLst>
          </p:cNvPr>
          <p:cNvSpPr/>
          <p:nvPr/>
        </p:nvSpPr>
        <p:spPr>
          <a:xfrm>
            <a:off x="2258568" y="219456"/>
            <a:ext cx="10360152" cy="8156448"/>
          </a:xfrm>
          <a:prstGeom prst="roundRect">
            <a:avLst>
              <a:gd name="adj" fmla="val 2144"/>
            </a:avLst>
          </a:prstGeom>
          <a:noFill/>
          <a:ln>
            <a:solidFill>
              <a:srgbClr val="15151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8E1A6F1-80CE-AC35-F963-A2A0661D367A}"/>
              </a:ext>
            </a:extLst>
          </p:cNvPr>
          <p:cNvGrpSpPr/>
          <p:nvPr/>
        </p:nvGrpSpPr>
        <p:grpSpPr>
          <a:xfrm>
            <a:off x="2332440" y="294120"/>
            <a:ext cx="2287800" cy="7962840"/>
            <a:chOff x="2332440" y="294120"/>
            <a:chExt cx="2287800" cy="7962840"/>
          </a:xfrm>
        </p:grpSpPr>
        <p:sp>
          <p:nvSpPr>
            <p:cNvPr id="10" name="panel-a"/>
            <p:cNvSpPr/>
            <p:nvPr/>
          </p:nvSpPr>
          <p:spPr>
            <a:xfrm>
              <a:off x="2332440" y="294120"/>
              <a:ext cx="2285640" cy="7962840"/>
            </a:xfrm>
            <a:prstGeom prst="roundRect">
              <a:avLst>
                <a:gd name="adj" fmla="val 5573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3F3F3"/>
                </a:gs>
              </a:gsLst>
              <a:lin ang="5400000"/>
            </a:gradFill>
            <a:ln w="19050">
              <a:solidFill>
                <a:srgbClr val="7C7C7C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矩形 171"/>
            <p:cNvSpPr/>
            <p:nvPr/>
          </p:nvSpPr>
          <p:spPr>
            <a:xfrm>
              <a:off x="2332440" y="369360"/>
              <a:ext cx="2285640" cy="55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2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(a) Train-only</a:t>
              </a:r>
              <a:endParaRPr lang="en-US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2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Construction</a:t>
              </a:r>
              <a:endParaRPr lang="en-US" sz="20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矩形 172"/>
            <p:cNvSpPr/>
            <p:nvPr/>
          </p:nvSpPr>
          <p:spPr>
            <a:xfrm>
              <a:off x="2720520" y="1144800"/>
              <a:ext cx="145512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Response logs R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" name="A.1 | Response log icons | Image 2"/>
            <p:cNvPicPr/>
            <p:nvPr/>
          </p:nvPicPr>
          <p:blipFill>
            <a:blip r:embed="rId3"/>
            <a:srcRect r="-418" b="26246"/>
            <a:stretch/>
          </p:blipFill>
          <p:spPr>
            <a:xfrm>
              <a:off x="2422800" y="1459080"/>
              <a:ext cx="1147320" cy="1685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" name="矩形 174"/>
            <p:cNvSpPr/>
            <p:nvPr/>
          </p:nvSpPr>
          <p:spPr>
            <a:xfrm>
              <a:off x="3694320" y="1582920"/>
              <a:ext cx="2664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100" b="1" u="none" strike="noStrike">
                  <a:solidFill>
                    <a:srgbClr val="32945D"/>
                  </a:solidFill>
                  <a:effectLst/>
                  <a:uFillTx/>
                  <a:latin typeface="Arial"/>
                  <a:ea typeface="Arial"/>
                </a:rPr>
                <a:t>✓</a:t>
              </a:r>
              <a:endPara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矩形 175"/>
            <p:cNvSpPr/>
            <p:nvPr/>
          </p:nvSpPr>
          <p:spPr>
            <a:xfrm>
              <a:off x="4084920" y="1582920"/>
              <a:ext cx="2664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9999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50" b="1" u="none" strike="noStrike">
                  <a:solidFill>
                    <a:srgbClr val="E24A3B"/>
                  </a:solidFill>
                  <a:effectLst/>
                  <a:uFillTx/>
                  <a:latin typeface="Arial"/>
                  <a:ea typeface="Arial"/>
                </a:rPr>
                <a:t>×</a:t>
              </a:r>
              <a:endParaRPr lang="en-US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矩形 176"/>
            <p:cNvSpPr/>
            <p:nvPr/>
          </p:nvSpPr>
          <p:spPr>
            <a:xfrm>
              <a:off x="3694320" y="2163960"/>
              <a:ext cx="2664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100" b="1" u="none" strike="noStrike">
                  <a:solidFill>
                    <a:srgbClr val="32945D"/>
                  </a:solidFill>
                  <a:effectLst/>
                  <a:uFillTx/>
                  <a:latin typeface="Arial"/>
                  <a:ea typeface="Arial"/>
                </a:rPr>
                <a:t>✓</a:t>
              </a:r>
              <a:endPara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矩形 177"/>
            <p:cNvSpPr/>
            <p:nvPr/>
          </p:nvSpPr>
          <p:spPr>
            <a:xfrm>
              <a:off x="4084920" y="2163960"/>
              <a:ext cx="2664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100" b="1" u="none" strike="noStrike">
                  <a:solidFill>
                    <a:srgbClr val="32945D"/>
                  </a:solidFill>
                  <a:effectLst/>
                  <a:uFillTx/>
                  <a:latin typeface="Arial"/>
                  <a:ea typeface="Arial"/>
                </a:rPr>
                <a:t>✓</a:t>
              </a:r>
              <a:endPara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矩形 178"/>
            <p:cNvSpPr/>
            <p:nvPr/>
          </p:nvSpPr>
          <p:spPr>
            <a:xfrm>
              <a:off x="3694320" y="2745000"/>
              <a:ext cx="2664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100" b="1" u="none" strike="noStrike">
                  <a:solidFill>
                    <a:srgbClr val="32945D"/>
                  </a:solidFill>
                  <a:effectLst/>
                  <a:uFillTx/>
                  <a:latin typeface="Arial"/>
                  <a:ea typeface="Arial"/>
                </a:rPr>
                <a:t>✓</a:t>
              </a:r>
              <a:endPara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矩形 179"/>
            <p:cNvSpPr/>
            <p:nvPr/>
          </p:nvSpPr>
          <p:spPr>
            <a:xfrm>
              <a:off x="4084920" y="2745000"/>
              <a:ext cx="2664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 lnSpcReduction="19999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50" b="1" u="none" strike="noStrike">
                  <a:solidFill>
                    <a:srgbClr val="E24A3B"/>
                  </a:solidFill>
                  <a:effectLst/>
                  <a:uFillTx/>
                  <a:latin typeface="Arial"/>
                  <a:ea typeface="Arial"/>
                </a:rPr>
                <a:t>×</a:t>
              </a:r>
              <a:endParaRPr lang="en-US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矩形 182"/>
            <p:cNvSpPr/>
            <p:nvPr/>
          </p:nvSpPr>
          <p:spPr>
            <a:xfrm>
              <a:off x="2495880" y="3513600"/>
              <a:ext cx="622080" cy="26640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矩形 183"/>
            <p:cNvSpPr/>
            <p:nvPr/>
          </p:nvSpPr>
          <p:spPr>
            <a:xfrm>
              <a:off x="2505600" y="351360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矩形 184"/>
            <p:cNvSpPr/>
            <p:nvPr/>
          </p:nvSpPr>
          <p:spPr>
            <a:xfrm>
              <a:off x="3118320" y="3513600"/>
              <a:ext cx="622080" cy="26640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矩形 185"/>
            <p:cNvSpPr/>
            <p:nvPr/>
          </p:nvSpPr>
          <p:spPr>
            <a:xfrm>
              <a:off x="3127680" y="351360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矩形 186"/>
            <p:cNvSpPr/>
            <p:nvPr/>
          </p:nvSpPr>
          <p:spPr>
            <a:xfrm>
              <a:off x="3740760" y="3513600"/>
              <a:ext cx="622080" cy="26640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矩形 187"/>
            <p:cNvSpPr/>
            <p:nvPr/>
          </p:nvSpPr>
          <p:spPr>
            <a:xfrm>
              <a:off x="3750120" y="351360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y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矩形 188"/>
            <p:cNvSpPr/>
            <p:nvPr/>
          </p:nvSpPr>
          <p:spPr>
            <a:xfrm>
              <a:off x="2495880" y="378036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矩形 189"/>
            <p:cNvSpPr/>
            <p:nvPr/>
          </p:nvSpPr>
          <p:spPr>
            <a:xfrm>
              <a:off x="2505600" y="378036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矩形 190"/>
            <p:cNvSpPr/>
            <p:nvPr/>
          </p:nvSpPr>
          <p:spPr>
            <a:xfrm>
              <a:off x="3118320" y="378036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矩形 191"/>
            <p:cNvSpPr/>
            <p:nvPr/>
          </p:nvSpPr>
          <p:spPr>
            <a:xfrm>
              <a:off x="3127680" y="378036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矩形 192"/>
            <p:cNvSpPr/>
            <p:nvPr/>
          </p:nvSpPr>
          <p:spPr>
            <a:xfrm>
              <a:off x="3740760" y="378036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矩形 193"/>
            <p:cNvSpPr/>
            <p:nvPr/>
          </p:nvSpPr>
          <p:spPr>
            <a:xfrm>
              <a:off x="3750120" y="378036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矩形 194"/>
            <p:cNvSpPr/>
            <p:nvPr/>
          </p:nvSpPr>
          <p:spPr>
            <a:xfrm>
              <a:off x="2495880" y="404712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矩形 195"/>
            <p:cNvSpPr/>
            <p:nvPr/>
          </p:nvSpPr>
          <p:spPr>
            <a:xfrm>
              <a:off x="2505600" y="404712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矩形 196"/>
            <p:cNvSpPr/>
            <p:nvPr/>
          </p:nvSpPr>
          <p:spPr>
            <a:xfrm>
              <a:off x="3118320" y="404712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矩形 197"/>
            <p:cNvSpPr/>
            <p:nvPr/>
          </p:nvSpPr>
          <p:spPr>
            <a:xfrm>
              <a:off x="3127680" y="404712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矩形 198"/>
            <p:cNvSpPr/>
            <p:nvPr/>
          </p:nvSpPr>
          <p:spPr>
            <a:xfrm>
              <a:off x="3740760" y="404712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矩形 199"/>
            <p:cNvSpPr/>
            <p:nvPr/>
          </p:nvSpPr>
          <p:spPr>
            <a:xfrm>
              <a:off x="3750120" y="404712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矩形 200"/>
            <p:cNvSpPr/>
            <p:nvPr/>
          </p:nvSpPr>
          <p:spPr>
            <a:xfrm>
              <a:off x="2495880" y="431388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矩形 201"/>
            <p:cNvSpPr/>
            <p:nvPr/>
          </p:nvSpPr>
          <p:spPr>
            <a:xfrm>
              <a:off x="2505600" y="431388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矩形 202"/>
            <p:cNvSpPr/>
            <p:nvPr/>
          </p:nvSpPr>
          <p:spPr>
            <a:xfrm>
              <a:off x="3118320" y="431388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矩形 203"/>
            <p:cNvSpPr/>
            <p:nvPr/>
          </p:nvSpPr>
          <p:spPr>
            <a:xfrm>
              <a:off x="3127680" y="431388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矩形 204"/>
            <p:cNvSpPr/>
            <p:nvPr/>
          </p:nvSpPr>
          <p:spPr>
            <a:xfrm>
              <a:off x="3740760" y="431388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矩形 205"/>
            <p:cNvSpPr/>
            <p:nvPr/>
          </p:nvSpPr>
          <p:spPr>
            <a:xfrm>
              <a:off x="3750120" y="431388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矩形 206"/>
            <p:cNvSpPr/>
            <p:nvPr/>
          </p:nvSpPr>
          <p:spPr>
            <a:xfrm>
              <a:off x="2495880" y="458028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矩形 207"/>
            <p:cNvSpPr/>
            <p:nvPr/>
          </p:nvSpPr>
          <p:spPr>
            <a:xfrm>
              <a:off x="2505600" y="458028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矩形 208"/>
            <p:cNvSpPr/>
            <p:nvPr/>
          </p:nvSpPr>
          <p:spPr>
            <a:xfrm>
              <a:off x="3118320" y="458028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矩形 209"/>
            <p:cNvSpPr/>
            <p:nvPr/>
          </p:nvSpPr>
          <p:spPr>
            <a:xfrm>
              <a:off x="3127680" y="458028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矩形 210"/>
            <p:cNvSpPr/>
            <p:nvPr/>
          </p:nvSpPr>
          <p:spPr>
            <a:xfrm>
              <a:off x="3740760" y="4580280"/>
              <a:ext cx="622080" cy="2664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矩形 211"/>
            <p:cNvSpPr/>
            <p:nvPr/>
          </p:nvSpPr>
          <p:spPr>
            <a:xfrm>
              <a:off x="3750120" y="458028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矩形 212"/>
            <p:cNvSpPr/>
            <p:nvPr/>
          </p:nvSpPr>
          <p:spPr>
            <a:xfrm>
              <a:off x="2495880" y="4847040"/>
              <a:ext cx="622080" cy="26640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矩形 213"/>
            <p:cNvSpPr/>
            <p:nvPr/>
          </p:nvSpPr>
          <p:spPr>
            <a:xfrm>
              <a:off x="2505600" y="484704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矩形 214"/>
            <p:cNvSpPr/>
            <p:nvPr/>
          </p:nvSpPr>
          <p:spPr>
            <a:xfrm>
              <a:off x="3118320" y="4847040"/>
              <a:ext cx="622080" cy="26640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矩形 215"/>
            <p:cNvSpPr/>
            <p:nvPr/>
          </p:nvSpPr>
          <p:spPr>
            <a:xfrm>
              <a:off x="3127680" y="484704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矩形 216"/>
            <p:cNvSpPr/>
            <p:nvPr/>
          </p:nvSpPr>
          <p:spPr>
            <a:xfrm>
              <a:off x="3740760" y="4847040"/>
              <a:ext cx="622080" cy="26640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矩形 217"/>
            <p:cNvSpPr/>
            <p:nvPr/>
          </p:nvSpPr>
          <p:spPr>
            <a:xfrm>
              <a:off x="3750120" y="4847040"/>
              <a:ext cx="60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yₙₑ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6" name="FLOW | SEG-0039"/>
            <p:cNvCxnSpPr/>
            <p:nvPr/>
          </p:nvCxnSpPr>
          <p:spPr>
            <a:xfrm>
              <a:off x="2333880" y="5438464"/>
              <a:ext cx="2286360" cy="360"/>
            </a:xfrm>
            <a:prstGeom prst="straightConnector1">
              <a:avLst/>
            </a:prstGeom>
            <a:ln w="16193">
              <a:solidFill>
                <a:srgbClr val="777777"/>
              </a:solidFill>
              <a:prstDash val="dash"/>
              <a:round/>
            </a:ln>
          </p:spPr>
        </p:cxnSp>
        <p:sp>
          <p:nvSpPr>
            <p:cNvPr id="57" name="矩形 221"/>
            <p:cNvSpPr/>
            <p:nvPr/>
          </p:nvSpPr>
          <p:spPr>
            <a:xfrm>
              <a:off x="2840400" y="5623560"/>
              <a:ext cx="117792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8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Q-matrix Q</a:t>
              </a:r>
              <a:endParaRPr lang="en-US" sz="15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矩形 222"/>
            <p:cNvSpPr/>
            <p:nvPr/>
          </p:nvSpPr>
          <p:spPr>
            <a:xfrm>
              <a:off x="2457720" y="5970600"/>
              <a:ext cx="495000" cy="32364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矩形 223"/>
            <p:cNvSpPr/>
            <p:nvPr/>
          </p:nvSpPr>
          <p:spPr>
            <a:xfrm>
              <a:off x="2467080" y="5970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" name="矩形 224"/>
            <p:cNvSpPr/>
            <p:nvPr/>
          </p:nvSpPr>
          <p:spPr>
            <a:xfrm>
              <a:off x="2952720" y="5970600"/>
              <a:ext cx="495000" cy="32364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矩形 225"/>
            <p:cNvSpPr/>
            <p:nvPr/>
          </p:nvSpPr>
          <p:spPr>
            <a:xfrm>
              <a:off x="2962440" y="5970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c₁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矩形 226"/>
            <p:cNvSpPr/>
            <p:nvPr/>
          </p:nvSpPr>
          <p:spPr>
            <a:xfrm>
              <a:off x="3448080" y="5970600"/>
              <a:ext cx="495000" cy="32364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矩形 227"/>
            <p:cNvSpPr/>
            <p:nvPr/>
          </p:nvSpPr>
          <p:spPr>
            <a:xfrm>
              <a:off x="3457800" y="5970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i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c₂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矩形 228"/>
            <p:cNvSpPr/>
            <p:nvPr/>
          </p:nvSpPr>
          <p:spPr>
            <a:xfrm>
              <a:off x="3943440" y="5970600"/>
              <a:ext cx="495000" cy="323640"/>
            </a:xfrm>
            <a:prstGeom prst="rect">
              <a:avLst/>
            </a:prstGeom>
            <a:solidFill>
              <a:srgbClr val="F5F5F5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矩形 229"/>
            <p:cNvSpPr/>
            <p:nvPr/>
          </p:nvSpPr>
          <p:spPr>
            <a:xfrm>
              <a:off x="3952800" y="5970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6" name="矩形 230"/>
            <p:cNvSpPr/>
            <p:nvPr/>
          </p:nvSpPr>
          <p:spPr>
            <a:xfrm>
              <a:off x="2457720" y="629460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矩形 231"/>
            <p:cNvSpPr/>
            <p:nvPr/>
          </p:nvSpPr>
          <p:spPr>
            <a:xfrm>
              <a:off x="2467080" y="6294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e₁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矩形 232"/>
            <p:cNvSpPr/>
            <p:nvPr/>
          </p:nvSpPr>
          <p:spPr>
            <a:xfrm>
              <a:off x="2952720" y="629460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矩形 233"/>
            <p:cNvSpPr/>
            <p:nvPr/>
          </p:nvSpPr>
          <p:spPr>
            <a:xfrm>
              <a:off x="2962440" y="6294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矩形 234"/>
            <p:cNvSpPr/>
            <p:nvPr/>
          </p:nvSpPr>
          <p:spPr>
            <a:xfrm>
              <a:off x="3448080" y="629460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矩形 235"/>
            <p:cNvSpPr/>
            <p:nvPr/>
          </p:nvSpPr>
          <p:spPr>
            <a:xfrm>
              <a:off x="3457800" y="6294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0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矩形 236"/>
            <p:cNvSpPr/>
            <p:nvPr/>
          </p:nvSpPr>
          <p:spPr>
            <a:xfrm>
              <a:off x="3943440" y="629460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矩形 237"/>
            <p:cNvSpPr/>
            <p:nvPr/>
          </p:nvSpPr>
          <p:spPr>
            <a:xfrm>
              <a:off x="3952800" y="629460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矩形 238"/>
            <p:cNvSpPr/>
            <p:nvPr/>
          </p:nvSpPr>
          <p:spPr>
            <a:xfrm>
              <a:off x="2457720" y="6618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矩形 239"/>
            <p:cNvSpPr/>
            <p:nvPr/>
          </p:nvSpPr>
          <p:spPr>
            <a:xfrm>
              <a:off x="2467080" y="6618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e₂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矩形 240"/>
            <p:cNvSpPr/>
            <p:nvPr/>
          </p:nvSpPr>
          <p:spPr>
            <a:xfrm>
              <a:off x="2952720" y="6618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矩形 241"/>
            <p:cNvSpPr/>
            <p:nvPr/>
          </p:nvSpPr>
          <p:spPr>
            <a:xfrm>
              <a:off x="2962440" y="6618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0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矩形 242"/>
            <p:cNvSpPr/>
            <p:nvPr/>
          </p:nvSpPr>
          <p:spPr>
            <a:xfrm>
              <a:off x="3448080" y="6618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矩形 243"/>
            <p:cNvSpPr/>
            <p:nvPr/>
          </p:nvSpPr>
          <p:spPr>
            <a:xfrm>
              <a:off x="3457800" y="6618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矩形 244"/>
            <p:cNvSpPr/>
            <p:nvPr/>
          </p:nvSpPr>
          <p:spPr>
            <a:xfrm>
              <a:off x="3943440" y="6618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矩形 245"/>
            <p:cNvSpPr/>
            <p:nvPr/>
          </p:nvSpPr>
          <p:spPr>
            <a:xfrm>
              <a:off x="3952800" y="6618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0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矩形 246"/>
            <p:cNvSpPr/>
            <p:nvPr/>
          </p:nvSpPr>
          <p:spPr>
            <a:xfrm>
              <a:off x="2457720" y="6942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矩形 247"/>
            <p:cNvSpPr/>
            <p:nvPr/>
          </p:nvSpPr>
          <p:spPr>
            <a:xfrm>
              <a:off x="2467080" y="6942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矩形 248"/>
            <p:cNvSpPr/>
            <p:nvPr/>
          </p:nvSpPr>
          <p:spPr>
            <a:xfrm>
              <a:off x="2952720" y="6942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矩形 249"/>
            <p:cNvSpPr/>
            <p:nvPr/>
          </p:nvSpPr>
          <p:spPr>
            <a:xfrm>
              <a:off x="2962440" y="6942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矩形 250"/>
            <p:cNvSpPr/>
            <p:nvPr/>
          </p:nvSpPr>
          <p:spPr>
            <a:xfrm>
              <a:off x="3448080" y="6942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矩形 251"/>
            <p:cNvSpPr/>
            <p:nvPr/>
          </p:nvSpPr>
          <p:spPr>
            <a:xfrm>
              <a:off x="3457800" y="6942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矩形 252"/>
            <p:cNvSpPr/>
            <p:nvPr/>
          </p:nvSpPr>
          <p:spPr>
            <a:xfrm>
              <a:off x="3943440" y="694224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矩形 253"/>
            <p:cNvSpPr/>
            <p:nvPr/>
          </p:nvSpPr>
          <p:spPr>
            <a:xfrm>
              <a:off x="3952800" y="694224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矩形 254"/>
            <p:cNvSpPr/>
            <p:nvPr/>
          </p:nvSpPr>
          <p:spPr>
            <a:xfrm>
              <a:off x="2457720" y="726588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矩形 255"/>
            <p:cNvSpPr/>
            <p:nvPr/>
          </p:nvSpPr>
          <p:spPr>
            <a:xfrm>
              <a:off x="2467080" y="726588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矩形 256"/>
            <p:cNvSpPr/>
            <p:nvPr/>
          </p:nvSpPr>
          <p:spPr>
            <a:xfrm>
              <a:off x="2952720" y="726588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矩形 257"/>
            <p:cNvSpPr/>
            <p:nvPr/>
          </p:nvSpPr>
          <p:spPr>
            <a:xfrm>
              <a:off x="2962440" y="726588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矩形 258"/>
            <p:cNvSpPr/>
            <p:nvPr/>
          </p:nvSpPr>
          <p:spPr>
            <a:xfrm>
              <a:off x="3448080" y="726588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矩形 259"/>
            <p:cNvSpPr/>
            <p:nvPr/>
          </p:nvSpPr>
          <p:spPr>
            <a:xfrm>
              <a:off x="3457800" y="726588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0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矩形 260"/>
            <p:cNvSpPr/>
            <p:nvPr/>
          </p:nvSpPr>
          <p:spPr>
            <a:xfrm>
              <a:off x="3943440" y="7265880"/>
              <a:ext cx="495000" cy="32364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矩形 261"/>
            <p:cNvSpPr/>
            <p:nvPr/>
          </p:nvSpPr>
          <p:spPr>
            <a:xfrm>
              <a:off x="3952800" y="7265880"/>
              <a:ext cx="475920" cy="3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ORMULA|A.c_C"/>
            <p:cNvSpPr/>
            <p:nvPr/>
          </p:nvSpPr>
          <p:spPr>
            <a:xfrm>
              <a:off x="4010040" y="5989680"/>
              <a:ext cx="3427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c</a:t>
              </a:r>
              <a:r>
                <a:rPr lang="en-US" sz="74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C</a:t>
              </a:r>
              <a:endParaRPr lang="en-US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ORMULA|A.e_E"/>
            <p:cNvSpPr/>
            <p:nvPr/>
          </p:nvSpPr>
          <p:spPr>
            <a:xfrm>
              <a:off x="2505240" y="7275600"/>
              <a:ext cx="3427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74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endParaRPr lang="en-US" sz="7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NTER|R-over-Q-bridge-1"/>
            <p:cNvSpPr/>
            <p:nvPr/>
          </p:nvSpPr>
          <p:spPr>
            <a:xfrm>
              <a:off x="4475520" y="2363760"/>
              <a:ext cx="95040" cy="9504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D5491ECE-8E05-BDDF-8E84-ED48A8CA4D7E}"/>
              </a:ext>
            </a:extLst>
          </p:cNvPr>
          <p:cNvGrpSpPr/>
          <p:nvPr/>
        </p:nvGrpSpPr>
        <p:grpSpPr>
          <a:xfrm>
            <a:off x="4677286" y="268953"/>
            <a:ext cx="7855865" cy="3417840"/>
            <a:chOff x="4677286" y="268953"/>
            <a:chExt cx="7855865" cy="3417840"/>
          </a:xfrm>
        </p:grpSpPr>
        <p:sp>
          <p:nvSpPr>
            <p:cNvPr id="239" name="panel-c"/>
            <p:cNvSpPr/>
            <p:nvPr/>
          </p:nvSpPr>
          <p:spPr>
            <a:xfrm>
              <a:off x="4677286" y="296313"/>
              <a:ext cx="7855865" cy="3382920"/>
            </a:xfrm>
            <a:prstGeom prst="roundRect">
              <a:avLst>
                <a:gd name="adj" fmla="val 2185"/>
              </a:avLst>
            </a:prstGeom>
            <a:noFill/>
            <a:ln w="15240">
              <a:solidFill>
                <a:srgbClr val="65A765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C-title"/>
            <p:cNvSpPr/>
            <p:nvPr/>
          </p:nvSpPr>
          <p:spPr>
            <a:xfrm>
              <a:off x="5417836" y="268953"/>
              <a:ext cx="619092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5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(c) Leakage-free </a:t>
              </a:r>
              <a:r>
                <a:rPr lang="en-US" sz="200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Evidence</a:t>
              </a:r>
              <a:r>
                <a:rPr lang="en-US" sz="195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 Anchoring (LEA)</a:t>
              </a:r>
              <a:endParaRPr lang="en-US" sz="1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C-1-exact-loo"/>
            <p:cNvSpPr/>
            <p:nvPr/>
          </p:nvSpPr>
          <p:spPr>
            <a:xfrm>
              <a:off x="4982236" y="1076793"/>
              <a:ext cx="1571400" cy="2155680"/>
            </a:xfrm>
            <a:prstGeom prst="roundRect">
              <a:avLst>
                <a:gd name="adj" fmla="val 4848"/>
              </a:avLst>
            </a:prstGeom>
            <a:noFill/>
            <a:ln w="1333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C-2-loo-statistics"/>
            <p:cNvSpPr/>
            <p:nvPr/>
          </p:nvSpPr>
          <p:spPr>
            <a:xfrm>
              <a:off x="6758836" y="1202793"/>
              <a:ext cx="1224360" cy="1910520"/>
            </a:xfrm>
            <a:prstGeom prst="roundRect">
              <a:avLst>
                <a:gd name="adj" fmla="val 4706"/>
              </a:avLst>
            </a:prstGeom>
            <a:noFill/>
            <a:ln w="1333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C-3-evidence-construction"/>
            <p:cNvSpPr/>
            <p:nvPr/>
          </p:nvSpPr>
          <p:spPr>
            <a:xfrm>
              <a:off x="8244916" y="955113"/>
              <a:ext cx="1763280" cy="2342880"/>
            </a:xfrm>
            <a:prstGeom prst="roundRect">
              <a:avLst>
                <a:gd name="adj" fmla="val 3810"/>
              </a:avLst>
            </a:prstGeom>
            <a:noFill/>
            <a:ln w="1333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C-4-count-gated-aggregation"/>
            <p:cNvSpPr/>
            <p:nvPr/>
          </p:nvSpPr>
          <p:spPr>
            <a:xfrm>
              <a:off x="10365184" y="1196673"/>
              <a:ext cx="1550520" cy="1649160"/>
            </a:xfrm>
            <a:prstGeom prst="roundRect">
              <a:avLst>
                <a:gd name="adj" fmla="val 4324"/>
              </a:avLst>
            </a:prstGeom>
            <a:noFill/>
            <a:ln w="1333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C-1-title"/>
            <p:cNvSpPr/>
            <p:nvPr/>
          </p:nvSpPr>
          <p:spPr>
            <a:xfrm>
              <a:off x="4934716" y="1099473"/>
              <a:ext cx="165456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Exact leave-one-out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C-loo-table-0-0"/>
            <p:cNvSpPr/>
            <p:nvPr/>
          </p:nvSpPr>
          <p:spPr>
            <a:xfrm>
              <a:off x="5210836" y="1418073"/>
              <a:ext cx="371160" cy="256680"/>
            </a:xfrm>
            <a:prstGeom prst="rect">
              <a:avLst/>
            </a:prstGeom>
            <a:solidFill>
              <a:srgbClr val="F8F8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s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C-loo-table-0-1"/>
            <p:cNvSpPr/>
            <p:nvPr/>
          </p:nvSpPr>
          <p:spPr>
            <a:xfrm>
              <a:off x="5582356" y="1418073"/>
              <a:ext cx="371160" cy="256680"/>
            </a:xfrm>
            <a:prstGeom prst="rect">
              <a:avLst/>
            </a:prstGeom>
            <a:solidFill>
              <a:srgbClr val="F8F8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C-loo-table-0-2"/>
            <p:cNvSpPr/>
            <p:nvPr/>
          </p:nvSpPr>
          <p:spPr>
            <a:xfrm>
              <a:off x="5953876" y="1418073"/>
              <a:ext cx="371160" cy="256680"/>
            </a:xfrm>
            <a:prstGeom prst="rect">
              <a:avLst/>
            </a:prstGeom>
            <a:solidFill>
              <a:srgbClr val="F8F8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y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C-loo-table-1-0"/>
            <p:cNvSpPr/>
            <p:nvPr/>
          </p:nvSpPr>
          <p:spPr>
            <a:xfrm>
              <a:off x="5210836" y="167511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C-loo-table-1-1"/>
            <p:cNvSpPr/>
            <p:nvPr/>
          </p:nvSpPr>
          <p:spPr>
            <a:xfrm>
              <a:off x="5582356" y="167511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3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C-loo-table-1-2"/>
            <p:cNvSpPr/>
            <p:nvPr/>
          </p:nvSpPr>
          <p:spPr>
            <a:xfrm>
              <a:off x="5953876" y="167511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C-loo-table-2-0"/>
            <p:cNvSpPr/>
            <p:nvPr/>
          </p:nvSpPr>
          <p:spPr>
            <a:xfrm>
              <a:off x="5210836" y="193251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C-loo-table-2-1"/>
            <p:cNvSpPr/>
            <p:nvPr/>
          </p:nvSpPr>
          <p:spPr>
            <a:xfrm>
              <a:off x="5582356" y="193251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5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C-loo-table-2-2"/>
            <p:cNvSpPr/>
            <p:nvPr/>
          </p:nvSpPr>
          <p:spPr>
            <a:xfrm>
              <a:off x="5953876" y="193251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0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C-loo-table-3-0"/>
            <p:cNvSpPr/>
            <p:nvPr/>
          </p:nvSpPr>
          <p:spPr>
            <a:xfrm>
              <a:off x="5210836" y="218955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2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C-loo-table-3-1"/>
            <p:cNvSpPr/>
            <p:nvPr/>
          </p:nvSpPr>
          <p:spPr>
            <a:xfrm>
              <a:off x="5582356" y="218955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2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C-loo-table-3-2"/>
            <p:cNvSpPr/>
            <p:nvPr/>
          </p:nvSpPr>
          <p:spPr>
            <a:xfrm>
              <a:off x="5953876" y="218955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C-loo-table-4-0"/>
            <p:cNvSpPr/>
            <p:nvPr/>
          </p:nvSpPr>
          <p:spPr>
            <a:xfrm>
              <a:off x="5210836" y="244659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C-loo-table-4-1"/>
            <p:cNvSpPr/>
            <p:nvPr/>
          </p:nvSpPr>
          <p:spPr>
            <a:xfrm>
              <a:off x="5582356" y="244659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C-loo-table-4-2"/>
            <p:cNvSpPr/>
            <p:nvPr/>
          </p:nvSpPr>
          <p:spPr>
            <a:xfrm>
              <a:off x="5953876" y="2446593"/>
              <a:ext cx="371160" cy="25668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C-loo-table-5-0"/>
            <p:cNvSpPr/>
            <p:nvPr/>
          </p:nvSpPr>
          <p:spPr>
            <a:xfrm>
              <a:off x="5210836" y="2703993"/>
              <a:ext cx="371160" cy="256680"/>
            </a:xfrm>
            <a:prstGeom prst="rect">
              <a:avLst/>
            </a:prstGeom>
            <a:solidFill>
              <a:srgbClr val="F8F8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N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C-loo-table-5-1"/>
            <p:cNvSpPr/>
            <p:nvPr/>
          </p:nvSpPr>
          <p:spPr>
            <a:xfrm>
              <a:off x="5582356" y="2703993"/>
              <a:ext cx="371160" cy="256680"/>
            </a:xfrm>
            <a:prstGeom prst="rect">
              <a:avLst/>
            </a:prstGeom>
            <a:solidFill>
              <a:srgbClr val="F8F8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C-loo-table-5-2"/>
            <p:cNvSpPr/>
            <p:nvPr/>
          </p:nvSpPr>
          <p:spPr>
            <a:xfrm>
              <a:off x="5953876" y="2703993"/>
              <a:ext cx="371160" cy="256680"/>
            </a:xfrm>
            <a:prstGeom prst="rect">
              <a:avLst/>
            </a:prstGeom>
            <a:solidFill>
              <a:srgbClr val="F8F8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yₙₑ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C-loo-cross-a"/>
            <p:cNvSpPr/>
            <p:nvPr/>
          </p:nvSpPr>
          <p:spPr>
            <a:xfrm>
              <a:off x="5220196" y="2198913"/>
              <a:ext cx="1095480" cy="237960"/>
            </a:xfrm>
            <a:prstGeom prst="line">
              <a:avLst/>
            </a:prstGeom>
            <a:ln w="19050">
              <a:solidFill>
                <a:srgbClr val="E43D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C-loo-cross-b"/>
            <p:cNvSpPr/>
            <p:nvPr/>
          </p:nvSpPr>
          <p:spPr>
            <a:xfrm flipH="1">
              <a:off x="5220196" y="2198913"/>
              <a:ext cx="1095480" cy="237960"/>
            </a:xfrm>
            <a:prstGeom prst="line">
              <a:avLst/>
            </a:prstGeom>
            <a:ln w="19050">
              <a:solidFill>
                <a:srgbClr val="E43D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C-1-scissors"/>
            <p:cNvSpPr/>
            <p:nvPr/>
          </p:nvSpPr>
          <p:spPr>
            <a:xfrm>
              <a:off x="4936516" y="2123673"/>
              <a:ext cx="32364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70" b="0" u="none" strike="noStrike">
                  <a:solidFill>
                    <a:srgbClr val="151515"/>
                  </a:solidFill>
                  <a:effectLst/>
                  <a:uFillTx/>
                  <a:latin typeface="Arial Unicode MS"/>
                  <a:ea typeface="Arial Unicode MS"/>
                </a:rPr>
                <a:t>✂︎</a:t>
              </a:r>
              <a:endPara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C-1-caption"/>
            <p:cNvSpPr/>
            <p:nvPr/>
          </p:nvSpPr>
          <p:spPr>
            <a:xfrm>
              <a:off x="4937596" y="2859873"/>
              <a:ext cx="1699200" cy="4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3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current response excluded</a:t>
              </a:r>
              <a:endPara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C-2-title"/>
            <p:cNvSpPr/>
            <p:nvPr/>
          </p:nvSpPr>
          <p:spPr>
            <a:xfrm>
              <a:off x="6710596" y="1259313"/>
              <a:ext cx="132300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3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LOO statistics</a:t>
              </a:r>
              <a:endParaRPr lang="en-US" sz="14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C-stat-direct"/>
            <p:cNvSpPr/>
            <p:nvPr/>
          </p:nvSpPr>
          <p:spPr>
            <a:xfrm>
              <a:off x="6875116" y="1623993"/>
              <a:ext cx="993600" cy="409320"/>
            </a:xfrm>
            <a:prstGeom prst="roundRect">
              <a:avLst>
                <a:gd name="adj" fmla="val 18605"/>
              </a:avLst>
            </a:prstGeom>
            <a:solidFill>
              <a:srgbClr val="E7F0FD"/>
            </a:solidFill>
            <a:ln w="13335">
              <a:solidFill>
                <a:srgbClr val="3B82C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Direct  </a:t>
              </a:r>
              <a:r>
                <a:rPr lang="en-US" sz="12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8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dir</a:t>
              </a: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C-stat-residual"/>
            <p:cNvSpPr/>
            <p:nvPr/>
          </p:nvSpPr>
          <p:spPr>
            <a:xfrm>
              <a:off x="6866836" y="2119353"/>
              <a:ext cx="1010160" cy="409320"/>
            </a:xfrm>
            <a:prstGeom prst="roundRect">
              <a:avLst>
                <a:gd name="adj" fmla="val 18605"/>
              </a:avLst>
            </a:prstGeom>
            <a:solidFill>
              <a:srgbClr val="F0E6F8"/>
            </a:solidFill>
            <a:ln w="1333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Residual  </a:t>
              </a:r>
              <a:r>
                <a:rPr lang="en-US" sz="12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8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res</a:t>
              </a: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C-stat-count"/>
            <p:cNvSpPr/>
            <p:nvPr/>
          </p:nvSpPr>
          <p:spPr>
            <a:xfrm>
              <a:off x="6871156" y="2614713"/>
              <a:ext cx="1001880" cy="409320"/>
            </a:xfrm>
            <a:prstGeom prst="roundRect">
              <a:avLst>
                <a:gd name="adj" fmla="val 18605"/>
              </a:avLst>
            </a:prstGeom>
            <a:solidFill>
              <a:srgbClr val="FFF1D8"/>
            </a:solidFill>
            <a:ln w="13335">
              <a:solidFill>
                <a:srgbClr val="E99A2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LOO count  </a:t>
              </a:r>
              <a:r>
                <a:rPr lang="en-US" sz="12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C-3-title"/>
            <p:cNvSpPr/>
            <p:nvPr/>
          </p:nvSpPr>
          <p:spPr>
            <a:xfrm>
              <a:off x="8186956" y="1045473"/>
              <a:ext cx="1902600" cy="25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3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Evidence construction</a:t>
              </a:r>
              <a:endParaRPr lang="en-US" sz="143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C-channel-direct"/>
            <p:cNvSpPr/>
            <p:nvPr/>
          </p:nvSpPr>
          <p:spPr>
            <a:xfrm>
              <a:off x="8535076" y="1379368"/>
              <a:ext cx="1190880" cy="371160"/>
            </a:xfrm>
            <a:prstGeom prst="roundRect">
              <a:avLst>
                <a:gd name="adj" fmla="val 20513"/>
              </a:avLst>
            </a:prstGeom>
            <a:solidFill>
              <a:srgbClr val="E7F0FD"/>
            </a:solidFill>
            <a:ln w="13335">
              <a:solidFill>
                <a:srgbClr val="3B82C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Direct:  </a:t>
              </a:r>
              <a:r>
                <a:rPr lang="en-US" sz="12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8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dir</a:t>
              </a: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C-channel-residual"/>
            <p:cNvSpPr/>
            <p:nvPr/>
          </p:nvSpPr>
          <p:spPr>
            <a:xfrm>
              <a:off x="8531116" y="1822818"/>
              <a:ext cx="1199160" cy="371160"/>
            </a:xfrm>
            <a:prstGeom prst="roundRect">
              <a:avLst>
                <a:gd name="adj" fmla="val 20513"/>
              </a:avLst>
            </a:prstGeom>
            <a:solidFill>
              <a:srgbClr val="F0E6F8"/>
            </a:solidFill>
            <a:ln w="1333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Residual:  </a:t>
              </a:r>
              <a:r>
                <a:rPr lang="en-US" sz="12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8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res</a:t>
              </a: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C-channel-prop1"/>
            <p:cNvSpPr/>
            <p:nvPr/>
          </p:nvSpPr>
          <p:spPr>
            <a:xfrm>
              <a:off x="8535076" y="2259393"/>
              <a:ext cx="1190880" cy="371160"/>
            </a:xfrm>
            <a:prstGeom prst="roundRect">
              <a:avLst>
                <a:gd name="adj" fmla="val 20513"/>
              </a:avLst>
            </a:prstGeom>
            <a:solidFill>
              <a:srgbClr val="DDF3F0"/>
            </a:solidFill>
            <a:ln w="13335">
              <a:solidFill>
                <a:srgbClr val="2F9C9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Prop-1 =  </a:t>
              </a:r>
              <a:r>
                <a:rPr lang="en-US" sz="12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R¹ · e</a:t>
              </a:r>
              <a:r>
                <a:rPr lang="en-US" sz="80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dir</a:t>
              </a: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C-channel-prop2"/>
            <p:cNvSpPr/>
            <p:nvPr/>
          </p:nvSpPr>
          <p:spPr>
            <a:xfrm>
              <a:off x="8531116" y="2716593"/>
              <a:ext cx="1199160" cy="371160"/>
            </a:xfrm>
            <a:prstGeom prst="roundRect">
              <a:avLst>
                <a:gd name="adj" fmla="val 20513"/>
              </a:avLst>
            </a:prstGeom>
            <a:solidFill>
              <a:srgbClr val="FFF1D8"/>
            </a:solidFill>
            <a:ln w="13335">
              <a:solidFill>
                <a:srgbClr val="E99A2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Prop-2 =  </a:t>
              </a:r>
              <a:r>
                <a:rPr lang="en-US" sz="120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R² · </a:t>
              </a:r>
              <a:r>
                <a:rPr lang="en-US" sz="120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80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dir</a:t>
              </a:r>
              <a:endParaRPr lang="en-US" sz="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C-gec-input"/>
            <p:cNvSpPr/>
            <p:nvPr/>
          </p:nvSpPr>
          <p:spPr>
            <a:xfrm>
              <a:off x="8336716" y="592953"/>
              <a:ext cx="1504440" cy="2376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9525">
              <a:solidFill>
                <a:srgbClr val="4B556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8440" tIns="9360" rIns="28440" bIns="9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R¹, R²</a:t>
              </a:r>
              <a:r>
                <a:rPr lang="en-US" sz="1050" b="0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  from GEC</a:t>
              </a:r>
              <a:endParaRPr lang="en-US" sz="10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C-4-title"/>
            <p:cNvSpPr/>
            <p:nvPr/>
          </p:nvSpPr>
          <p:spPr>
            <a:xfrm>
              <a:off x="10562464" y="1275153"/>
              <a:ext cx="11516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Count-gated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nonnegative aggregation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C-aggregation-strip-1"/>
            <p:cNvSpPr/>
            <p:nvPr/>
          </p:nvSpPr>
          <p:spPr>
            <a:xfrm>
              <a:off x="10530064" y="1882473"/>
              <a:ext cx="685440" cy="95040"/>
            </a:xfrm>
            <a:prstGeom prst="rect">
              <a:avLst/>
            </a:prstGeom>
            <a:solidFill>
              <a:srgbClr val="E7F0FD"/>
            </a:solidFill>
            <a:ln w="9525">
              <a:solidFill>
                <a:srgbClr val="3B82C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C-aggregation-strip-2"/>
            <p:cNvSpPr/>
            <p:nvPr/>
          </p:nvSpPr>
          <p:spPr>
            <a:xfrm>
              <a:off x="10530064" y="2053833"/>
              <a:ext cx="685440" cy="95040"/>
            </a:xfrm>
            <a:prstGeom prst="rect">
              <a:avLst/>
            </a:prstGeom>
            <a:solidFill>
              <a:srgbClr val="F0E6F8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C-aggregation-strip-3"/>
            <p:cNvSpPr/>
            <p:nvPr/>
          </p:nvSpPr>
          <p:spPr>
            <a:xfrm>
              <a:off x="10530064" y="2225193"/>
              <a:ext cx="685440" cy="95040"/>
            </a:xfrm>
            <a:prstGeom prst="rect">
              <a:avLst/>
            </a:prstGeom>
            <a:solidFill>
              <a:srgbClr val="DDF3F0"/>
            </a:solidFill>
            <a:ln w="9525">
              <a:solidFill>
                <a:srgbClr val="2F9C9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C-aggregation-strip-4"/>
            <p:cNvSpPr/>
            <p:nvPr/>
          </p:nvSpPr>
          <p:spPr>
            <a:xfrm>
              <a:off x="10530064" y="2396913"/>
              <a:ext cx="685440" cy="95040"/>
            </a:xfrm>
            <a:prstGeom prst="rect">
              <a:avLst/>
            </a:prstGeom>
            <a:solidFill>
              <a:srgbClr val="FFF1D8"/>
            </a:solidFill>
            <a:ln w="9525">
              <a:solidFill>
                <a:srgbClr val="E99A2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C-aggregation-sum"/>
            <p:cNvSpPr/>
            <p:nvPr/>
          </p:nvSpPr>
          <p:spPr>
            <a:xfrm>
              <a:off x="11387224" y="1987233"/>
              <a:ext cx="399240" cy="39924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250" b="0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Σ</a:t>
              </a:r>
              <a:endParaRPr lang="en-US" sz="22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C-aggregation-stack-anchor"/>
            <p:cNvSpPr/>
            <p:nvPr/>
          </p:nvSpPr>
          <p:spPr>
            <a:xfrm>
              <a:off x="10424944" y="1825233"/>
              <a:ext cx="704520" cy="74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86" name="直线箭头连接符 2262"/>
            <p:cNvCxnSpPr>
              <a:endCxn id="284" idx="2"/>
            </p:cNvCxnSpPr>
            <p:nvPr/>
          </p:nvCxnSpPr>
          <p:spPr>
            <a:xfrm>
              <a:off x="11225224" y="2186673"/>
              <a:ext cx="162360" cy="720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C-aggregation-formula"/>
                <p:cNvSpPr/>
                <p:nvPr/>
              </p:nvSpPr>
              <p:spPr>
                <a:xfrm>
                  <a:off x="10363024" y="2449833"/>
                  <a:ext cx="1561680" cy="4093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360" tIns="19080" rIns="9360" bIns="1908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altLang="zh-CN" sz="900" b="0" i="1" u="none" strike="noStrike" dirty="0" smtClean="0">
                                <a:solidFill>
                                  <a:srgbClr val="151515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STIX Two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altLang="zh-CN" sz="900" b="0" i="1" u="none" strike="noStrike" dirty="0" smtClean="0">
                                <a:solidFill>
                                  <a:srgbClr val="151515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STIX Two Math"/>
                              </a:rPr>
                              <m:t>ch</m:t>
                            </m:r>
                          </m:sub>
                          <m:sup/>
                          <m:e>
                            <m:r>
                              <a:rPr lang="en-US" altLang="zh-CN" sz="900" b="0" i="1" u="none" strike="noStrike" dirty="0" smtClean="0">
                                <a:solidFill>
                                  <a:srgbClr val="151515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STIX Two Math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𝑐</m:t>
                                </m:r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,</m:t>
                                </m:r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𝑐h</m:t>
                                </m:r>
                              </m:sub>
                              <m:sup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+</m:t>
                                </m:r>
                              </m:sup>
                            </m:sSubSup>
                            <m:r>
                              <a:rPr lang="en-US" altLang="zh-CN" sz="900" b="0" i="1" u="none" strike="noStrike" dirty="0" smtClean="0">
                                <a:solidFill>
                                  <a:srgbClr val="151515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STIX Two Math"/>
                              </a:rPr>
                              <m:t> · </m:t>
                            </m:r>
                            <m:sSub>
                              <m:sSubPr>
                                <m:ctrlP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ch</m:t>
                                </m:r>
                              </m:sub>
                            </m:sSub>
                            <m:r>
                              <a:rPr lang="en-US" altLang="zh-CN" sz="900" b="0" i="1" u="none" strike="noStrike" dirty="0" smtClean="0">
                                <a:solidFill>
                                  <a:srgbClr val="151515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STIX Two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𝑠</m:t>
                                </m:r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,</m:t>
                                </m:r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z="900" b="0" i="1" u="none" strike="noStrike" dirty="0" smtClean="0">
                                <a:solidFill>
                                  <a:srgbClr val="151515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STIX Two Math"/>
                              </a:rPr>
                              <m:t>) · </m:t>
                            </m:r>
                            <m:sSubSup>
                              <m:sSubSupPr>
                                <m:ctrlP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𝑠</m:t>
                                </m:r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,</m:t>
                                </m:r>
                                <m: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900" b="0" i="1" u="none" strike="noStrike" dirty="0" smtClean="0">
                                    <a:solidFill>
                                      <a:srgbClr val="151515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STIX Two Math"/>
                                  </a:rPr>
                                  <m:t>ch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820" b="0" u="none" strike="noStrike" dirty="0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87" name="C-aggregation-formula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3024" y="2449833"/>
                  <a:ext cx="1561680" cy="409320"/>
                </a:xfrm>
                <a:prstGeom prst="rect">
                  <a:avLst/>
                </a:prstGeom>
                <a:blipFill>
                  <a:blip r:embed="rId4"/>
                  <a:stretch>
                    <a:fillRect l="-25203" t="-102941" b="-150000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4" name="直线箭头连接符 2270"/>
            <p:cNvCxnSpPr/>
            <p:nvPr/>
          </p:nvCxnSpPr>
          <p:spPr>
            <a:xfrm>
              <a:off x="6553996" y="2134473"/>
              <a:ext cx="205200" cy="3960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p:cxnSp>
          <p:nvCxnSpPr>
            <p:cNvPr id="295" name="直线箭头连接符 2271"/>
            <p:cNvCxnSpPr/>
            <p:nvPr/>
          </p:nvCxnSpPr>
          <p:spPr>
            <a:xfrm>
              <a:off x="7983196" y="2136273"/>
              <a:ext cx="253440" cy="360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p:cxnSp>
          <p:nvCxnSpPr>
            <p:cNvPr id="296" name="直线箭头连接符 2272"/>
            <p:cNvCxnSpPr>
              <a:stCxn id="278" idx="2"/>
              <a:endCxn id="244" idx="0"/>
            </p:cNvCxnSpPr>
            <p:nvPr/>
          </p:nvCxnSpPr>
          <p:spPr>
            <a:xfrm>
              <a:off x="9089116" y="830554"/>
              <a:ext cx="0" cy="124919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p:cxnSp>
          <p:nvCxnSpPr>
            <p:cNvPr id="297" name="直线箭头连接符 2273"/>
            <p:cNvCxnSpPr>
              <a:cxnSpLocks/>
            </p:cNvCxnSpPr>
            <p:nvPr/>
          </p:nvCxnSpPr>
          <p:spPr>
            <a:xfrm>
              <a:off x="10008196" y="2136273"/>
              <a:ext cx="347988" cy="0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p:sp>
          <p:nvSpPr>
            <p:cNvPr id="299" name="C-count-waypoint-2"/>
            <p:cNvSpPr/>
            <p:nvPr/>
          </p:nvSpPr>
          <p:spPr>
            <a:xfrm>
              <a:off x="11237464" y="3479073"/>
              <a:ext cx="18720" cy="1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920" rIns="90000" bIns="-2592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0" name="直线箭头连接符 2276"/>
            <p:cNvCxnSpPr>
              <a:stCxn id="272" idx="2"/>
            </p:cNvCxnSpPr>
            <p:nvPr/>
          </p:nvCxnSpPr>
          <p:spPr>
            <a:xfrm flipH="1">
              <a:off x="7371916" y="3024033"/>
              <a:ext cx="720" cy="440280"/>
            </a:xfrm>
            <a:prstGeom prst="straightConnector1">
              <a:avLst/>
            </a:prstGeom>
            <a:ln w="17145">
              <a:solidFill>
                <a:srgbClr val="E86E13"/>
              </a:solidFill>
              <a:prstDash val="dash"/>
              <a:round/>
            </a:ln>
          </p:spPr>
        </p:cxnSp>
        <p:cxnSp>
          <p:nvCxnSpPr>
            <p:cNvPr id="301" name="直线箭头连接符 2277"/>
            <p:cNvCxnSpPr>
              <a:cxnSpLocks/>
            </p:cNvCxnSpPr>
            <p:nvPr/>
          </p:nvCxnSpPr>
          <p:spPr>
            <a:xfrm>
              <a:off x="7363636" y="3488433"/>
              <a:ext cx="3765828" cy="0"/>
            </a:xfrm>
            <a:prstGeom prst="straightConnector1">
              <a:avLst/>
            </a:prstGeom>
            <a:ln w="17145">
              <a:solidFill>
                <a:srgbClr val="E86E13"/>
              </a:solidFill>
              <a:prstDash val="dash"/>
              <a:round/>
            </a:ln>
          </p:spPr>
        </p:cxnSp>
        <p:cxnSp>
          <p:nvCxnSpPr>
            <p:cNvPr id="302" name="直线箭头连接符 2278"/>
            <p:cNvCxnSpPr>
              <a:endCxn id="245" idx="2"/>
            </p:cNvCxnSpPr>
            <p:nvPr/>
          </p:nvCxnSpPr>
          <p:spPr>
            <a:xfrm flipV="1">
              <a:off x="11131984" y="2845833"/>
              <a:ext cx="9000" cy="639720"/>
            </a:xfrm>
            <a:prstGeom prst="straightConnector1">
              <a:avLst/>
            </a:prstGeom>
            <a:ln w="17145">
              <a:solidFill>
                <a:srgbClr val="E86E13"/>
              </a:solidFill>
              <a:prstDash val="dash"/>
              <a:round/>
              <a:tailEnd type="arrow" w="med" len="med"/>
            </a:ln>
          </p:spPr>
        </p:cxnSp>
        <p:sp>
          <p:nvSpPr>
            <p:cNvPr id="303" name="C-count-control-label"/>
            <p:cNvSpPr/>
            <p:nvPr/>
          </p:nvSpPr>
          <p:spPr>
            <a:xfrm>
              <a:off x="8736676" y="3477633"/>
              <a:ext cx="999720" cy="20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u="none" strike="noStrike">
                  <a:solidFill>
                    <a:srgbClr val="C9530B"/>
                  </a:solidFill>
                  <a:effectLst/>
                  <a:uFillTx/>
                  <a:latin typeface="Times New Roman"/>
                  <a:ea typeface="Times New Roman"/>
                </a:rPr>
                <a:t>count  </a:t>
              </a:r>
              <a:r>
                <a:rPr lang="en-US" sz="1100" b="0" i="1" u="none" strike="noStrike">
                  <a:solidFill>
                    <a:srgbClr val="C9530B"/>
                  </a:solidFill>
                  <a:effectLst/>
                  <a:uFillTx/>
                  <a:latin typeface="STIX Two Math"/>
                  <a:ea typeface="STIX Two Math"/>
                </a:rPr>
                <a:t>n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" name="C-count-waypoint-1"/>
          <p:cNvSpPr/>
          <p:nvPr/>
        </p:nvSpPr>
        <p:spPr>
          <a:xfrm>
            <a:off x="7554076" y="3479073"/>
            <a:ext cx="18720" cy="1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4" name="组合 373">
            <a:extLst>
              <a:ext uri="{FF2B5EF4-FFF2-40B4-BE49-F238E27FC236}">
                <a16:creationId xmlns:a16="http://schemas.microsoft.com/office/drawing/2014/main" id="{047DA06E-D019-E437-2AD3-A2C3B807522A}"/>
              </a:ext>
            </a:extLst>
          </p:cNvPr>
          <p:cNvGrpSpPr/>
          <p:nvPr/>
        </p:nvGrpSpPr>
        <p:grpSpPr>
          <a:xfrm>
            <a:off x="4677364" y="3758912"/>
            <a:ext cx="4929120" cy="4548469"/>
            <a:chOff x="4677364" y="3758912"/>
            <a:chExt cx="4929120" cy="4548469"/>
          </a:xfrm>
        </p:grpSpPr>
        <p:sp>
          <p:nvSpPr>
            <p:cNvPr id="100" name="panel-b"/>
            <p:cNvSpPr/>
            <p:nvPr/>
          </p:nvSpPr>
          <p:spPr>
            <a:xfrm>
              <a:off x="4677364" y="3779704"/>
              <a:ext cx="4929120" cy="4527677"/>
            </a:xfrm>
            <a:prstGeom prst="roundRect">
              <a:avLst>
                <a:gd name="adj" fmla="val 4091"/>
              </a:avLst>
            </a:prstGeom>
            <a:noFill/>
            <a:ln w="19050">
              <a:solidFill>
                <a:srgbClr val="DFA72C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1" name="FLOW | FLOW-0001"/>
            <p:cNvCxnSpPr/>
            <p:nvPr/>
          </p:nvCxnSpPr>
          <p:spPr>
            <a:xfrm>
              <a:off x="6525697" y="6403580"/>
              <a:ext cx="695880" cy="36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102" name="FLOW | FLOW-0002"/>
            <p:cNvCxnSpPr/>
            <p:nvPr/>
          </p:nvCxnSpPr>
          <p:spPr>
            <a:xfrm>
              <a:off x="6525697" y="7259875"/>
              <a:ext cx="695880" cy="36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sp>
          <p:nvSpPr>
            <p:cNvPr id="109" name="矩形 264"/>
            <p:cNvSpPr/>
            <p:nvPr/>
          </p:nvSpPr>
          <p:spPr>
            <a:xfrm>
              <a:off x="4768984" y="7911621"/>
              <a:ext cx="474588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(b) Graph Evidence Calibration (GEC)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矩形 265"/>
            <p:cNvSpPr/>
            <p:nvPr/>
          </p:nvSpPr>
          <p:spPr>
            <a:xfrm>
              <a:off x="5163457" y="5740609"/>
              <a:ext cx="14691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Item co-occurrence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矩形 266"/>
            <p:cNvSpPr/>
            <p:nvPr/>
          </p:nvSpPr>
          <p:spPr>
            <a:xfrm>
              <a:off x="5634697" y="5910529"/>
              <a:ext cx="526680" cy="2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i="1" u="none" strike="noStrike">
                  <a:solidFill>
                    <a:srgbClr val="555555"/>
                  </a:solidFill>
                  <a:effectLst/>
                  <a:uFillTx/>
                  <a:latin typeface="Times New Roman"/>
                  <a:ea typeface="Times New Roman"/>
                </a:rPr>
                <a:t>Q only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2" name="FLOW | SEG-0040"/>
            <p:cNvCxnSpPr/>
            <p:nvPr/>
          </p:nvCxnSpPr>
          <p:spPr>
            <a:xfrm flipV="1">
              <a:off x="5374777" y="6166489"/>
              <a:ext cx="179640" cy="23220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3" name="FLOW | SEG-0041"/>
            <p:cNvCxnSpPr/>
            <p:nvPr/>
          </p:nvCxnSpPr>
          <p:spPr>
            <a:xfrm flipV="1">
              <a:off x="5377297" y="6317329"/>
              <a:ext cx="551160" cy="8820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4" name="FLOW | SEG-0042"/>
            <p:cNvCxnSpPr/>
            <p:nvPr/>
          </p:nvCxnSpPr>
          <p:spPr>
            <a:xfrm>
              <a:off x="5374777" y="6411649"/>
              <a:ext cx="582840" cy="28512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5" name="FLOW | SEG-0043"/>
            <p:cNvCxnSpPr/>
            <p:nvPr/>
          </p:nvCxnSpPr>
          <p:spPr>
            <a:xfrm>
              <a:off x="5567377" y="6166489"/>
              <a:ext cx="361080" cy="15120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6" name="FLOW | SEG-0044"/>
            <p:cNvCxnSpPr/>
            <p:nvPr/>
          </p:nvCxnSpPr>
          <p:spPr>
            <a:xfrm>
              <a:off x="5567377" y="6166489"/>
              <a:ext cx="390240" cy="5302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7" name="FLOW | SEG-0045"/>
            <p:cNvCxnSpPr/>
            <p:nvPr/>
          </p:nvCxnSpPr>
          <p:spPr>
            <a:xfrm flipV="1">
              <a:off x="5944297" y="6166489"/>
              <a:ext cx="276120" cy="14472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8" name="FLOW | SEG-0046"/>
            <p:cNvCxnSpPr/>
            <p:nvPr/>
          </p:nvCxnSpPr>
          <p:spPr>
            <a:xfrm>
              <a:off x="5947177" y="6317329"/>
              <a:ext cx="471960" cy="1756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19" name="FLOW | SEG-0047"/>
            <p:cNvCxnSpPr/>
            <p:nvPr/>
          </p:nvCxnSpPr>
          <p:spPr>
            <a:xfrm>
              <a:off x="5937457" y="6327049"/>
              <a:ext cx="26640" cy="36684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20" name="FLOW | SEG-0048"/>
            <p:cNvCxnSpPr/>
            <p:nvPr/>
          </p:nvCxnSpPr>
          <p:spPr>
            <a:xfrm>
              <a:off x="6233377" y="6166489"/>
              <a:ext cx="188640" cy="3196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21" name="FLOW | SEG-0049"/>
            <p:cNvCxnSpPr/>
            <p:nvPr/>
          </p:nvCxnSpPr>
          <p:spPr>
            <a:xfrm flipH="1">
              <a:off x="5970577" y="6166489"/>
              <a:ext cx="249840" cy="5302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122" name="FLOW | SEG-0050"/>
            <p:cNvCxnSpPr/>
            <p:nvPr/>
          </p:nvCxnSpPr>
          <p:spPr>
            <a:xfrm flipH="1">
              <a:off x="5970577" y="6499489"/>
              <a:ext cx="451440" cy="1972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sp>
          <p:nvSpPr>
            <p:cNvPr id="123" name="item-graph-node-0"/>
            <p:cNvSpPr/>
            <p:nvPr/>
          </p:nvSpPr>
          <p:spPr>
            <a:xfrm>
              <a:off x="5289097" y="6326329"/>
              <a:ext cx="157320" cy="157320"/>
            </a:xfrm>
            <a:prstGeom prst="ellipse">
              <a:avLst/>
            </a:prstGeom>
            <a:solidFill>
              <a:srgbClr val="F06F55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tem-graph-node-1"/>
            <p:cNvSpPr/>
            <p:nvPr/>
          </p:nvSpPr>
          <p:spPr>
            <a:xfrm>
              <a:off x="5482057" y="6081169"/>
              <a:ext cx="157320" cy="157320"/>
            </a:xfrm>
            <a:prstGeom prst="ellipse">
              <a:avLst/>
            </a:prstGeom>
            <a:solidFill>
              <a:srgbClr val="4D7CC1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tem-graph-node-2"/>
            <p:cNvSpPr/>
            <p:nvPr/>
          </p:nvSpPr>
          <p:spPr>
            <a:xfrm>
              <a:off x="5858977" y="6238849"/>
              <a:ext cx="157320" cy="157320"/>
            </a:xfrm>
            <a:prstGeom prst="ellipse">
              <a:avLst/>
            </a:prstGeom>
            <a:solidFill>
              <a:srgbClr val="151515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item-graph-node-3"/>
            <p:cNvSpPr/>
            <p:nvPr/>
          </p:nvSpPr>
          <p:spPr>
            <a:xfrm>
              <a:off x="6148057" y="6081169"/>
              <a:ext cx="157320" cy="157320"/>
            </a:xfrm>
            <a:prstGeom prst="ellipse">
              <a:avLst/>
            </a:prstGeom>
            <a:solidFill>
              <a:srgbClr val="55A7A6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item-graph-node-4"/>
            <p:cNvSpPr/>
            <p:nvPr/>
          </p:nvSpPr>
          <p:spPr>
            <a:xfrm>
              <a:off x="6349657" y="6414169"/>
              <a:ext cx="157320" cy="157320"/>
            </a:xfrm>
            <a:prstGeom prst="ellipse">
              <a:avLst/>
            </a:prstGeom>
            <a:solidFill>
              <a:srgbClr val="8D6BB8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item-graph-node-5"/>
            <p:cNvSpPr/>
            <p:nvPr/>
          </p:nvSpPr>
          <p:spPr>
            <a:xfrm>
              <a:off x="5885257" y="6624409"/>
              <a:ext cx="157320" cy="157320"/>
            </a:xfrm>
            <a:prstGeom prst="ellipse">
              <a:avLst/>
            </a:prstGeom>
            <a:solidFill>
              <a:srgbClr val="F2B64D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圆角矩形 347"/>
            <p:cNvSpPr/>
            <p:nvPr/>
          </p:nvSpPr>
          <p:spPr>
            <a:xfrm>
              <a:off x="7266577" y="6198886"/>
              <a:ext cx="1375560" cy="1246234"/>
            </a:xfrm>
            <a:prstGeom prst="roundRect">
              <a:avLst>
                <a:gd name="adj" fmla="val 574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8F8F8"/>
                </a:gs>
              </a:gsLst>
              <a:lin ang="5400000"/>
            </a:gradFill>
            <a:ln w="1714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矩形 348"/>
            <p:cNvSpPr/>
            <p:nvPr/>
          </p:nvSpPr>
          <p:spPr>
            <a:xfrm>
              <a:off x="7215457" y="6284566"/>
              <a:ext cx="146664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8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Multi-head</a:t>
              </a:r>
              <a:endPara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8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Relation Learning</a:t>
              </a:r>
              <a:endPara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relation-head-1-1"/>
            <p:cNvSpPr/>
            <p:nvPr/>
          </p:nvSpPr>
          <p:spPr>
            <a:xfrm>
              <a:off x="7415617" y="6846526"/>
              <a:ext cx="209160" cy="209160"/>
            </a:xfrm>
            <a:prstGeom prst="rect">
              <a:avLst/>
            </a:prstGeom>
            <a:solidFill>
              <a:srgbClr val="BFD5F4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relation-head-1-2"/>
            <p:cNvSpPr/>
            <p:nvPr/>
          </p:nvSpPr>
          <p:spPr>
            <a:xfrm>
              <a:off x="7625137" y="6846526"/>
              <a:ext cx="209160" cy="209160"/>
            </a:xfrm>
            <a:prstGeom prst="rect">
              <a:avLst/>
            </a:prstGeom>
            <a:solidFill>
              <a:srgbClr val="BFD5F4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relation-head-1-3"/>
            <p:cNvSpPr/>
            <p:nvPr/>
          </p:nvSpPr>
          <p:spPr>
            <a:xfrm>
              <a:off x="7834657" y="6846526"/>
              <a:ext cx="209160" cy="209160"/>
            </a:xfrm>
            <a:prstGeom prst="rect">
              <a:avLst/>
            </a:prstGeom>
            <a:solidFill>
              <a:srgbClr val="BFD5F4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relation-head-1-4"/>
            <p:cNvSpPr/>
            <p:nvPr/>
          </p:nvSpPr>
          <p:spPr>
            <a:xfrm>
              <a:off x="8044177" y="6846526"/>
              <a:ext cx="209160" cy="209160"/>
            </a:xfrm>
            <a:prstGeom prst="rect">
              <a:avLst/>
            </a:prstGeom>
            <a:solidFill>
              <a:srgbClr val="BFD5F4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lation-head-1-5"/>
            <p:cNvSpPr/>
            <p:nvPr/>
          </p:nvSpPr>
          <p:spPr>
            <a:xfrm>
              <a:off x="8253697" y="6846526"/>
              <a:ext cx="209160" cy="209160"/>
            </a:xfrm>
            <a:prstGeom prst="rect">
              <a:avLst/>
            </a:prstGeom>
            <a:solidFill>
              <a:srgbClr val="BFD5F4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lation-head-2-1"/>
            <p:cNvSpPr/>
            <p:nvPr/>
          </p:nvSpPr>
          <p:spPr>
            <a:xfrm>
              <a:off x="7415617" y="7125166"/>
              <a:ext cx="209160" cy="209160"/>
            </a:xfrm>
            <a:prstGeom prst="rect">
              <a:avLst/>
            </a:prstGeom>
            <a:solidFill>
              <a:srgbClr val="BCE3DD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lation-head-2-2"/>
            <p:cNvSpPr/>
            <p:nvPr/>
          </p:nvSpPr>
          <p:spPr>
            <a:xfrm>
              <a:off x="7625137" y="7125166"/>
              <a:ext cx="209160" cy="209160"/>
            </a:xfrm>
            <a:prstGeom prst="rect">
              <a:avLst/>
            </a:prstGeom>
            <a:solidFill>
              <a:srgbClr val="BCE3DD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lation-head-2-3"/>
            <p:cNvSpPr/>
            <p:nvPr/>
          </p:nvSpPr>
          <p:spPr>
            <a:xfrm>
              <a:off x="7834657" y="7125166"/>
              <a:ext cx="209160" cy="209160"/>
            </a:xfrm>
            <a:prstGeom prst="rect">
              <a:avLst/>
            </a:prstGeom>
            <a:solidFill>
              <a:srgbClr val="BCE3DD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lation-head-2-4"/>
            <p:cNvSpPr/>
            <p:nvPr/>
          </p:nvSpPr>
          <p:spPr>
            <a:xfrm>
              <a:off x="8044177" y="7125166"/>
              <a:ext cx="209160" cy="209160"/>
            </a:xfrm>
            <a:prstGeom prst="rect">
              <a:avLst/>
            </a:prstGeom>
            <a:solidFill>
              <a:srgbClr val="BCE3DD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lation-head-2-5"/>
            <p:cNvSpPr/>
            <p:nvPr/>
          </p:nvSpPr>
          <p:spPr>
            <a:xfrm>
              <a:off x="8253697" y="7125166"/>
              <a:ext cx="209160" cy="209160"/>
            </a:xfrm>
            <a:prstGeom prst="rect">
              <a:avLst/>
            </a:prstGeom>
            <a:solidFill>
              <a:srgbClr val="BCE3DD"/>
            </a:solidFill>
            <a:ln w="8573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ORMULA|B.R1"/>
            <p:cNvSpPr/>
            <p:nvPr/>
          </p:nvSpPr>
          <p:spPr>
            <a:xfrm>
              <a:off x="8466246" y="5894716"/>
              <a:ext cx="29016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8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R¹ </a:t>
              </a:r>
              <a:endParaRPr lang="en-US" sz="158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R1-0-0"/>
            <p:cNvSpPr/>
            <p:nvPr/>
          </p:nvSpPr>
          <p:spPr>
            <a:xfrm flipV="1">
              <a:off x="803850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R1-0-1"/>
            <p:cNvSpPr/>
            <p:nvPr/>
          </p:nvSpPr>
          <p:spPr>
            <a:xfrm flipV="1">
              <a:off x="8248024" y="5289303"/>
              <a:ext cx="209160" cy="209160"/>
            </a:xfrm>
            <a:prstGeom prst="rect">
              <a:avLst/>
            </a:prstGeom>
            <a:solidFill>
              <a:srgbClr val="BFD5F4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R1-0-2"/>
            <p:cNvSpPr/>
            <p:nvPr/>
          </p:nvSpPr>
          <p:spPr>
            <a:xfrm flipV="1">
              <a:off x="845754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R1-0-3"/>
            <p:cNvSpPr/>
            <p:nvPr/>
          </p:nvSpPr>
          <p:spPr>
            <a:xfrm flipV="1">
              <a:off x="866706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R1-0-4"/>
            <p:cNvSpPr/>
            <p:nvPr/>
          </p:nvSpPr>
          <p:spPr>
            <a:xfrm flipV="1">
              <a:off x="887658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1-1-0"/>
            <p:cNvSpPr/>
            <p:nvPr/>
          </p:nvSpPr>
          <p:spPr>
            <a:xfrm flipV="1">
              <a:off x="803850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1-1-1"/>
            <p:cNvSpPr/>
            <p:nvPr/>
          </p:nvSpPr>
          <p:spPr>
            <a:xfrm flipV="1">
              <a:off x="8248024" y="5498823"/>
              <a:ext cx="209160" cy="209160"/>
            </a:xfrm>
            <a:prstGeom prst="rect">
              <a:avLst/>
            </a:prstGeom>
            <a:solidFill>
              <a:srgbClr val="BFD5F4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1-1-2"/>
            <p:cNvSpPr/>
            <p:nvPr/>
          </p:nvSpPr>
          <p:spPr>
            <a:xfrm flipV="1">
              <a:off x="845754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1-1-3"/>
            <p:cNvSpPr/>
            <p:nvPr/>
          </p:nvSpPr>
          <p:spPr>
            <a:xfrm flipV="1">
              <a:off x="866706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1-1-4"/>
            <p:cNvSpPr/>
            <p:nvPr/>
          </p:nvSpPr>
          <p:spPr>
            <a:xfrm flipV="1">
              <a:off x="887658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1-2-0"/>
            <p:cNvSpPr/>
            <p:nvPr/>
          </p:nvSpPr>
          <p:spPr>
            <a:xfrm flipV="1">
              <a:off x="803850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1-2-1"/>
            <p:cNvSpPr/>
            <p:nvPr/>
          </p:nvSpPr>
          <p:spPr>
            <a:xfrm flipV="1">
              <a:off x="824802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1-2-2"/>
            <p:cNvSpPr/>
            <p:nvPr/>
          </p:nvSpPr>
          <p:spPr>
            <a:xfrm flipV="1">
              <a:off x="845754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1-2-3"/>
            <p:cNvSpPr/>
            <p:nvPr/>
          </p:nvSpPr>
          <p:spPr>
            <a:xfrm flipV="1">
              <a:off x="866706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R1-2-4"/>
            <p:cNvSpPr/>
            <p:nvPr/>
          </p:nvSpPr>
          <p:spPr>
            <a:xfrm flipV="1">
              <a:off x="887658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矩形 381"/>
            <p:cNvSpPr/>
            <p:nvPr/>
          </p:nvSpPr>
          <p:spPr>
            <a:xfrm flipV="1">
              <a:off x="8457544" y="5717703"/>
              <a:ext cx="2091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8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FORMULA|B.R2"/>
            <p:cNvSpPr/>
            <p:nvPr/>
          </p:nvSpPr>
          <p:spPr>
            <a:xfrm>
              <a:off x="7259064" y="5894716"/>
              <a:ext cx="29016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8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R² </a:t>
              </a:r>
              <a:endParaRPr lang="en-US" sz="158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R2-0-0"/>
            <p:cNvSpPr/>
            <p:nvPr/>
          </p:nvSpPr>
          <p:spPr>
            <a:xfrm flipV="1">
              <a:off x="682782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R2-0-1"/>
            <p:cNvSpPr/>
            <p:nvPr/>
          </p:nvSpPr>
          <p:spPr>
            <a:xfrm flipV="1">
              <a:off x="703734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R2-0-2"/>
            <p:cNvSpPr/>
            <p:nvPr/>
          </p:nvSpPr>
          <p:spPr>
            <a:xfrm flipV="1">
              <a:off x="7246864" y="5289303"/>
              <a:ext cx="209160" cy="209160"/>
            </a:xfrm>
            <a:prstGeom prst="rect">
              <a:avLst/>
            </a:prstGeom>
            <a:solidFill>
              <a:srgbClr val="BCE3DD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R2-0-3"/>
            <p:cNvSpPr/>
            <p:nvPr/>
          </p:nvSpPr>
          <p:spPr>
            <a:xfrm flipV="1">
              <a:off x="745638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R2-0-4"/>
            <p:cNvSpPr/>
            <p:nvPr/>
          </p:nvSpPr>
          <p:spPr>
            <a:xfrm flipV="1">
              <a:off x="7666264" y="528930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R2-1-0"/>
            <p:cNvSpPr/>
            <p:nvPr/>
          </p:nvSpPr>
          <p:spPr>
            <a:xfrm flipV="1">
              <a:off x="682782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2-1-2"/>
            <p:cNvSpPr/>
            <p:nvPr/>
          </p:nvSpPr>
          <p:spPr>
            <a:xfrm flipV="1">
              <a:off x="7034650" y="5497361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2-1-3"/>
            <p:cNvSpPr/>
            <p:nvPr/>
          </p:nvSpPr>
          <p:spPr>
            <a:xfrm flipV="1">
              <a:off x="745638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2-1-4"/>
            <p:cNvSpPr/>
            <p:nvPr/>
          </p:nvSpPr>
          <p:spPr>
            <a:xfrm flipV="1">
              <a:off x="7666264" y="549882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2-2-0"/>
            <p:cNvSpPr/>
            <p:nvPr/>
          </p:nvSpPr>
          <p:spPr>
            <a:xfrm flipV="1">
              <a:off x="682782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2-2-1"/>
            <p:cNvSpPr/>
            <p:nvPr/>
          </p:nvSpPr>
          <p:spPr>
            <a:xfrm flipV="1">
              <a:off x="703734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2-2-2"/>
            <p:cNvSpPr/>
            <p:nvPr/>
          </p:nvSpPr>
          <p:spPr>
            <a:xfrm flipV="1">
              <a:off x="724686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7" name="R2-2-3"/>
            <p:cNvSpPr/>
            <p:nvPr/>
          </p:nvSpPr>
          <p:spPr>
            <a:xfrm flipV="1">
              <a:off x="745638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2-2-4"/>
            <p:cNvSpPr/>
            <p:nvPr/>
          </p:nvSpPr>
          <p:spPr>
            <a:xfrm flipV="1">
              <a:off x="7666264" y="5708343"/>
              <a:ext cx="209160" cy="209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矩形 398"/>
            <p:cNvSpPr/>
            <p:nvPr/>
          </p:nvSpPr>
          <p:spPr>
            <a:xfrm flipV="1">
              <a:off x="7246864" y="5717703"/>
              <a:ext cx="2091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8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⋮</a:t>
              </a:r>
              <a:endPara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矩形 306"/>
            <p:cNvSpPr/>
            <p:nvPr/>
          </p:nvSpPr>
          <p:spPr>
            <a:xfrm>
              <a:off x="5133937" y="6839646"/>
              <a:ext cx="156204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Student co-exposure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矩形 307"/>
            <p:cNvSpPr/>
            <p:nvPr/>
          </p:nvSpPr>
          <p:spPr>
            <a:xfrm>
              <a:off x="5313217" y="7007766"/>
              <a:ext cx="1203480" cy="21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i="1" u="none" strike="noStrike">
                  <a:solidFill>
                    <a:srgbClr val="555555"/>
                  </a:solidFill>
                  <a:effectLst/>
                  <a:uFillTx/>
                  <a:latin typeface="Times New Roman"/>
                  <a:ea typeface="Times New Roman"/>
                </a:rPr>
                <a:t>(s,e) + Q;  y ignored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14" name="FLOW | SEG-0051"/>
            <p:cNvCxnSpPr/>
            <p:nvPr/>
          </p:nvCxnSpPr>
          <p:spPr>
            <a:xfrm flipV="1">
              <a:off x="5391337" y="7265166"/>
              <a:ext cx="179640" cy="23220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15" name="FLOW | SEG-0052"/>
            <p:cNvCxnSpPr/>
            <p:nvPr/>
          </p:nvCxnSpPr>
          <p:spPr>
            <a:xfrm flipV="1">
              <a:off x="5394217" y="7416006"/>
              <a:ext cx="550800" cy="8820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16" name="FLOW | SEG-0053"/>
            <p:cNvCxnSpPr/>
            <p:nvPr/>
          </p:nvCxnSpPr>
          <p:spPr>
            <a:xfrm>
              <a:off x="5391337" y="7510326"/>
              <a:ext cx="582840" cy="28512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17" name="FLOW | SEG-0054"/>
            <p:cNvCxnSpPr/>
            <p:nvPr/>
          </p:nvCxnSpPr>
          <p:spPr>
            <a:xfrm>
              <a:off x="5584297" y="7265166"/>
              <a:ext cx="360720" cy="15120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18" name="FLOW | SEG-0055"/>
            <p:cNvCxnSpPr/>
            <p:nvPr/>
          </p:nvCxnSpPr>
          <p:spPr>
            <a:xfrm>
              <a:off x="5584297" y="7265166"/>
              <a:ext cx="389880" cy="5302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19" name="FLOW | SEG-0056"/>
            <p:cNvCxnSpPr/>
            <p:nvPr/>
          </p:nvCxnSpPr>
          <p:spPr>
            <a:xfrm flipV="1">
              <a:off x="5961217" y="7265166"/>
              <a:ext cx="275760" cy="14472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20" name="FLOW | SEG-0057"/>
            <p:cNvCxnSpPr/>
            <p:nvPr/>
          </p:nvCxnSpPr>
          <p:spPr>
            <a:xfrm>
              <a:off x="5963737" y="7416006"/>
              <a:ext cx="471960" cy="1756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21" name="FLOW | SEG-0058"/>
            <p:cNvCxnSpPr/>
            <p:nvPr/>
          </p:nvCxnSpPr>
          <p:spPr>
            <a:xfrm>
              <a:off x="5954377" y="7425726"/>
              <a:ext cx="26640" cy="36684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22" name="FLOW | SEG-0059"/>
            <p:cNvCxnSpPr/>
            <p:nvPr/>
          </p:nvCxnSpPr>
          <p:spPr>
            <a:xfrm>
              <a:off x="6250297" y="7265166"/>
              <a:ext cx="188280" cy="3196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23" name="FLOW | SEG-0060"/>
            <p:cNvCxnSpPr/>
            <p:nvPr/>
          </p:nvCxnSpPr>
          <p:spPr>
            <a:xfrm flipH="1">
              <a:off x="5987497" y="7265166"/>
              <a:ext cx="249480" cy="5302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cxnSp>
          <p:nvCxnSpPr>
            <p:cNvPr id="224" name="FLOW | SEG-0061"/>
            <p:cNvCxnSpPr/>
            <p:nvPr/>
          </p:nvCxnSpPr>
          <p:spPr>
            <a:xfrm flipH="1">
              <a:off x="5987497" y="7598166"/>
              <a:ext cx="451080" cy="197280"/>
            </a:xfrm>
            <a:prstGeom prst="straightConnector1">
              <a:avLst/>
            </a:prstGeom>
            <a:ln w="13145">
              <a:solidFill>
                <a:srgbClr val="151515"/>
              </a:solidFill>
              <a:round/>
            </a:ln>
          </p:spPr>
        </p:cxnSp>
        <p:sp>
          <p:nvSpPr>
            <p:cNvPr id="225" name="student-graph-node-0"/>
            <p:cNvSpPr/>
            <p:nvPr/>
          </p:nvSpPr>
          <p:spPr>
            <a:xfrm>
              <a:off x="5306017" y="7425006"/>
              <a:ext cx="157320" cy="157320"/>
            </a:xfrm>
            <a:prstGeom prst="ellipse">
              <a:avLst/>
            </a:prstGeom>
            <a:solidFill>
              <a:srgbClr val="F06F55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student-graph-node-1"/>
            <p:cNvSpPr/>
            <p:nvPr/>
          </p:nvSpPr>
          <p:spPr>
            <a:xfrm>
              <a:off x="5498977" y="7179846"/>
              <a:ext cx="157320" cy="157320"/>
            </a:xfrm>
            <a:prstGeom prst="ellipse">
              <a:avLst/>
            </a:prstGeom>
            <a:solidFill>
              <a:srgbClr val="4D7CC1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student-graph-node-2"/>
            <p:cNvSpPr/>
            <p:nvPr/>
          </p:nvSpPr>
          <p:spPr>
            <a:xfrm>
              <a:off x="5875537" y="7337526"/>
              <a:ext cx="157320" cy="157320"/>
            </a:xfrm>
            <a:prstGeom prst="ellipse">
              <a:avLst/>
            </a:prstGeom>
            <a:solidFill>
              <a:srgbClr val="151515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student-graph-node-3"/>
            <p:cNvSpPr/>
            <p:nvPr/>
          </p:nvSpPr>
          <p:spPr>
            <a:xfrm>
              <a:off x="6164977" y="7179846"/>
              <a:ext cx="157320" cy="157320"/>
            </a:xfrm>
            <a:prstGeom prst="ellipse">
              <a:avLst/>
            </a:prstGeom>
            <a:solidFill>
              <a:srgbClr val="55A7A6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student-graph-node-4"/>
            <p:cNvSpPr/>
            <p:nvPr/>
          </p:nvSpPr>
          <p:spPr>
            <a:xfrm>
              <a:off x="6366217" y="7512846"/>
              <a:ext cx="157320" cy="157320"/>
            </a:xfrm>
            <a:prstGeom prst="ellipse">
              <a:avLst/>
            </a:prstGeom>
            <a:solidFill>
              <a:srgbClr val="8D6BB8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student-graph-node-5"/>
            <p:cNvSpPr/>
            <p:nvPr/>
          </p:nvSpPr>
          <p:spPr>
            <a:xfrm>
              <a:off x="5901817" y="7723086"/>
              <a:ext cx="157320" cy="157320"/>
            </a:xfrm>
            <a:prstGeom prst="ellipse">
              <a:avLst/>
            </a:prstGeom>
            <a:solidFill>
              <a:srgbClr val="F2B64D"/>
            </a:solidFill>
            <a:ln w="1226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圆角矩形 399"/>
            <p:cNvSpPr/>
            <p:nvPr/>
          </p:nvSpPr>
          <p:spPr>
            <a:xfrm>
              <a:off x="7333537" y="4018254"/>
              <a:ext cx="1055520" cy="104724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714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28440" rIns="38160" bIns="28440" anchor="t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GNN state</a:t>
              </a:r>
              <a:endParaRPr lang="en-US" sz="13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5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encoder</a:t>
              </a:r>
              <a:endParaRPr lang="en-US" sz="13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1" name="FLOW | SEG-0062"/>
            <p:cNvCxnSpPr/>
            <p:nvPr/>
          </p:nvCxnSpPr>
          <p:spPr>
            <a:xfrm flipV="1">
              <a:off x="7570417" y="4569774"/>
              <a:ext cx="95760" cy="12564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2" name="FLOW | SEG-0063"/>
            <p:cNvCxnSpPr/>
            <p:nvPr/>
          </p:nvCxnSpPr>
          <p:spPr>
            <a:xfrm flipV="1">
              <a:off x="7573297" y="4652214"/>
              <a:ext cx="303120" cy="4968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3" name="FLOW | SEG-0064"/>
            <p:cNvCxnSpPr/>
            <p:nvPr/>
          </p:nvCxnSpPr>
          <p:spPr>
            <a:xfrm>
              <a:off x="7570417" y="4708374"/>
              <a:ext cx="323640" cy="15516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4" name="FLOW | SEG-0065"/>
            <p:cNvCxnSpPr/>
            <p:nvPr/>
          </p:nvCxnSpPr>
          <p:spPr>
            <a:xfrm>
              <a:off x="7679497" y="4569774"/>
              <a:ext cx="196920" cy="8280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5" name="FLOW | SEG-0066"/>
            <p:cNvCxnSpPr/>
            <p:nvPr/>
          </p:nvCxnSpPr>
          <p:spPr>
            <a:xfrm>
              <a:off x="7679497" y="4569774"/>
              <a:ext cx="214560" cy="29376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6" name="FLOW | SEG-0067"/>
            <p:cNvCxnSpPr/>
            <p:nvPr/>
          </p:nvCxnSpPr>
          <p:spPr>
            <a:xfrm flipV="1">
              <a:off x="7892257" y="4569774"/>
              <a:ext cx="150480" cy="7596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7" name="FLOW | SEG-0068"/>
            <p:cNvCxnSpPr/>
            <p:nvPr/>
          </p:nvCxnSpPr>
          <p:spPr>
            <a:xfrm>
              <a:off x="7895137" y="4652214"/>
              <a:ext cx="258480" cy="9936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8" name="FLOW | SEG-0069"/>
            <p:cNvCxnSpPr/>
            <p:nvPr/>
          </p:nvCxnSpPr>
          <p:spPr>
            <a:xfrm>
              <a:off x="7885417" y="4661574"/>
              <a:ext cx="15480" cy="19944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89" name="FLOW | SEG-0070"/>
            <p:cNvCxnSpPr/>
            <p:nvPr/>
          </p:nvCxnSpPr>
          <p:spPr>
            <a:xfrm>
              <a:off x="8055697" y="4569774"/>
              <a:ext cx="100800" cy="17496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90" name="FLOW | SEG-0071"/>
            <p:cNvCxnSpPr/>
            <p:nvPr/>
          </p:nvCxnSpPr>
          <p:spPr>
            <a:xfrm flipH="1">
              <a:off x="7907017" y="4569774"/>
              <a:ext cx="135720" cy="29376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cxnSp>
          <p:nvCxnSpPr>
            <p:cNvPr id="191" name="FLOW | SEG-0072"/>
            <p:cNvCxnSpPr/>
            <p:nvPr/>
          </p:nvCxnSpPr>
          <p:spPr>
            <a:xfrm flipH="1">
              <a:off x="7907017" y="4758054"/>
              <a:ext cx="249480" cy="105480"/>
            </a:xfrm>
            <a:prstGeom prst="straightConnector1">
              <a:avLst/>
            </a:prstGeom>
            <a:ln w="7430">
              <a:solidFill>
                <a:srgbClr val="151515"/>
              </a:solidFill>
              <a:round/>
            </a:ln>
          </p:spPr>
        </p:cxnSp>
        <p:sp>
          <p:nvSpPr>
            <p:cNvPr id="192" name="gnn-mini-node-0"/>
            <p:cNvSpPr/>
            <p:nvPr/>
          </p:nvSpPr>
          <p:spPr>
            <a:xfrm>
              <a:off x="7519297" y="4657254"/>
              <a:ext cx="88920" cy="88920"/>
            </a:xfrm>
            <a:prstGeom prst="ellipse">
              <a:avLst/>
            </a:prstGeom>
            <a:solidFill>
              <a:srgbClr val="004CC7"/>
            </a:solidFill>
            <a:ln w="6934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nn-mini-node-1"/>
            <p:cNvSpPr/>
            <p:nvPr/>
          </p:nvSpPr>
          <p:spPr>
            <a:xfrm>
              <a:off x="7628377" y="4518654"/>
              <a:ext cx="88920" cy="88920"/>
            </a:xfrm>
            <a:prstGeom prst="ellipse">
              <a:avLst/>
            </a:prstGeom>
            <a:solidFill>
              <a:srgbClr val="004CC7"/>
            </a:solidFill>
            <a:ln w="6934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nn-mini-node-2"/>
            <p:cNvSpPr/>
            <p:nvPr/>
          </p:nvSpPr>
          <p:spPr>
            <a:xfrm>
              <a:off x="7841137" y="4607574"/>
              <a:ext cx="88920" cy="88920"/>
            </a:xfrm>
            <a:prstGeom prst="ellipse">
              <a:avLst/>
            </a:prstGeom>
            <a:solidFill>
              <a:srgbClr val="004CC7"/>
            </a:solidFill>
            <a:ln w="6934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nn-mini-node-3"/>
            <p:cNvSpPr/>
            <p:nvPr/>
          </p:nvSpPr>
          <p:spPr>
            <a:xfrm>
              <a:off x="8004577" y="4518654"/>
              <a:ext cx="88920" cy="88920"/>
            </a:xfrm>
            <a:prstGeom prst="ellipse">
              <a:avLst/>
            </a:prstGeom>
            <a:solidFill>
              <a:srgbClr val="004CC7"/>
            </a:solidFill>
            <a:ln w="6934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nn-mini-node-4"/>
            <p:cNvSpPr/>
            <p:nvPr/>
          </p:nvSpPr>
          <p:spPr>
            <a:xfrm>
              <a:off x="8118697" y="4706934"/>
              <a:ext cx="88920" cy="88920"/>
            </a:xfrm>
            <a:prstGeom prst="ellipse">
              <a:avLst/>
            </a:prstGeom>
            <a:solidFill>
              <a:srgbClr val="004CC7"/>
            </a:solidFill>
            <a:ln w="6934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nn-mini-node-5"/>
            <p:cNvSpPr/>
            <p:nvPr/>
          </p:nvSpPr>
          <p:spPr>
            <a:xfrm>
              <a:off x="7855897" y="4825734"/>
              <a:ext cx="88920" cy="88920"/>
            </a:xfrm>
            <a:prstGeom prst="ellipse">
              <a:avLst/>
            </a:prstGeom>
            <a:solidFill>
              <a:srgbClr val="004CC7"/>
            </a:solidFill>
            <a:ln w="6934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圆角矩形 439"/>
            <p:cNvSpPr/>
            <p:nvPr/>
          </p:nvSpPr>
          <p:spPr>
            <a:xfrm>
              <a:off x="5543617" y="4079672"/>
              <a:ext cx="1007640" cy="26604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1430">
              <a:solidFill>
                <a:srgbClr val="65758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椭圆 440"/>
            <p:cNvSpPr/>
            <p:nvPr/>
          </p:nvSpPr>
          <p:spPr>
            <a:xfrm>
              <a:off x="5588617" y="4139792"/>
              <a:ext cx="142560" cy="142560"/>
            </a:xfrm>
            <a:prstGeom prst="ellipse">
              <a:avLst/>
            </a:prstGeom>
            <a:solidFill>
              <a:srgbClr val="4D7CC1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椭圆 441"/>
            <p:cNvSpPr/>
            <p:nvPr/>
          </p:nvSpPr>
          <p:spPr>
            <a:xfrm>
              <a:off x="5779057" y="4139792"/>
              <a:ext cx="142560" cy="142560"/>
            </a:xfrm>
            <a:prstGeom prst="ellipse">
              <a:avLst/>
            </a:prstGeom>
            <a:solidFill>
              <a:srgbClr val="4D7CC1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椭圆 442"/>
            <p:cNvSpPr/>
            <p:nvPr/>
          </p:nvSpPr>
          <p:spPr>
            <a:xfrm>
              <a:off x="5969497" y="4139792"/>
              <a:ext cx="142560" cy="142560"/>
            </a:xfrm>
            <a:prstGeom prst="ellipse">
              <a:avLst/>
            </a:prstGeom>
            <a:solidFill>
              <a:srgbClr val="4D7CC1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椭圆 443"/>
            <p:cNvSpPr/>
            <p:nvPr/>
          </p:nvSpPr>
          <p:spPr>
            <a:xfrm>
              <a:off x="6159937" y="4139792"/>
              <a:ext cx="142560" cy="142560"/>
            </a:xfrm>
            <a:prstGeom prst="ellipse">
              <a:avLst/>
            </a:prstGeom>
            <a:solidFill>
              <a:srgbClr val="4D7CC1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椭圆 444"/>
            <p:cNvSpPr/>
            <p:nvPr/>
          </p:nvSpPr>
          <p:spPr>
            <a:xfrm>
              <a:off x="6350377" y="4139792"/>
              <a:ext cx="142560" cy="142560"/>
            </a:xfrm>
            <a:prstGeom prst="ellipse">
              <a:avLst/>
            </a:prstGeom>
            <a:solidFill>
              <a:srgbClr val="4D7CC1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矩形 445"/>
            <p:cNvSpPr/>
            <p:nvPr/>
          </p:nvSpPr>
          <p:spPr>
            <a:xfrm>
              <a:off x="5358217" y="3758912"/>
              <a:ext cx="137844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4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Student embeddings</a:t>
              </a:r>
              <a:endParaRPr lang="en-US" sz="11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圆角矩形 446"/>
            <p:cNvSpPr/>
            <p:nvPr/>
          </p:nvSpPr>
          <p:spPr>
            <a:xfrm>
              <a:off x="5543617" y="4758992"/>
              <a:ext cx="1007640" cy="26604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1430">
              <a:solidFill>
                <a:srgbClr val="65758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椭圆 447"/>
            <p:cNvSpPr/>
            <p:nvPr/>
          </p:nvSpPr>
          <p:spPr>
            <a:xfrm>
              <a:off x="5594017" y="4819472"/>
              <a:ext cx="142560" cy="142560"/>
            </a:xfrm>
            <a:prstGeom prst="ellipse">
              <a:avLst/>
            </a:prstGeom>
            <a:solidFill>
              <a:srgbClr val="55A7A6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椭圆 448"/>
            <p:cNvSpPr/>
            <p:nvPr/>
          </p:nvSpPr>
          <p:spPr>
            <a:xfrm>
              <a:off x="5784457" y="4819472"/>
              <a:ext cx="142560" cy="142560"/>
            </a:xfrm>
            <a:prstGeom prst="ellipse">
              <a:avLst/>
            </a:prstGeom>
            <a:solidFill>
              <a:srgbClr val="55A7A6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椭圆 449"/>
            <p:cNvSpPr/>
            <p:nvPr/>
          </p:nvSpPr>
          <p:spPr>
            <a:xfrm>
              <a:off x="5974897" y="4819472"/>
              <a:ext cx="142560" cy="142560"/>
            </a:xfrm>
            <a:prstGeom prst="ellipse">
              <a:avLst/>
            </a:prstGeom>
            <a:solidFill>
              <a:srgbClr val="55A7A6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椭圆 450"/>
            <p:cNvSpPr/>
            <p:nvPr/>
          </p:nvSpPr>
          <p:spPr>
            <a:xfrm>
              <a:off x="6165337" y="4819472"/>
              <a:ext cx="142560" cy="142560"/>
            </a:xfrm>
            <a:prstGeom prst="ellipse">
              <a:avLst/>
            </a:prstGeom>
            <a:solidFill>
              <a:srgbClr val="55A7A6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椭圆 451"/>
            <p:cNvSpPr/>
            <p:nvPr/>
          </p:nvSpPr>
          <p:spPr>
            <a:xfrm>
              <a:off x="6355777" y="4819472"/>
              <a:ext cx="142560" cy="142560"/>
            </a:xfrm>
            <a:prstGeom prst="ellipse">
              <a:avLst/>
            </a:prstGeom>
            <a:solidFill>
              <a:srgbClr val="55A7A6"/>
            </a:solidFill>
            <a:ln w="9525">
              <a:solidFill>
                <a:srgbClr val="1230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矩形 452"/>
            <p:cNvSpPr/>
            <p:nvPr/>
          </p:nvSpPr>
          <p:spPr>
            <a:xfrm>
              <a:off x="5380897" y="4361912"/>
              <a:ext cx="133308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4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Concept embeddings</a:t>
              </a:r>
              <a:endParaRPr lang="en-US" sz="11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2" name="FLOW | FLOW-0002"/>
            <p:cNvCxnSpPr/>
            <p:nvPr/>
          </p:nvCxnSpPr>
          <p:spPr>
            <a:xfrm>
              <a:off x="6593017" y="4170174"/>
              <a:ext cx="695520" cy="36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233" name="FLOW | FLOW-0002"/>
            <p:cNvCxnSpPr/>
            <p:nvPr/>
          </p:nvCxnSpPr>
          <p:spPr>
            <a:xfrm>
              <a:off x="6593017" y="4866414"/>
              <a:ext cx="695520" cy="36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234" name="FLOW | FLOW-0001"/>
            <p:cNvCxnSpPr>
              <a:cxnSpLocks/>
            </p:cNvCxnSpPr>
            <p:nvPr/>
          </p:nvCxnSpPr>
          <p:spPr>
            <a:xfrm flipV="1">
              <a:off x="7658344" y="5069343"/>
              <a:ext cx="360" cy="21528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235" name="FLOW | FLOW-0001"/>
            <p:cNvCxnSpPr>
              <a:cxnSpLocks/>
            </p:cNvCxnSpPr>
            <p:nvPr/>
          </p:nvCxnSpPr>
          <p:spPr>
            <a:xfrm flipV="1">
              <a:off x="8243344" y="5069343"/>
              <a:ext cx="360" cy="21528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236" name="FLOW | FLOW-0001"/>
            <p:cNvCxnSpPr>
              <a:cxnSpLocks/>
            </p:cNvCxnSpPr>
            <p:nvPr/>
          </p:nvCxnSpPr>
          <p:spPr>
            <a:xfrm flipV="1">
              <a:off x="7671363" y="5910663"/>
              <a:ext cx="2101" cy="304423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237" name="FLOW | FLOW-0001"/>
            <p:cNvCxnSpPr>
              <a:cxnSpLocks/>
            </p:cNvCxnSpPr>
            <p:nvPr/>
          </p:nvCxnSpPr>
          <p:spPr>
            <a:xfrm flipH="1" flipV="1">
              <a:off x="8248744" y="5908972"/>
              <a:ext cx="4593" cy="306114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sp>
          <p:nvSpPr>
            <p:cNvPr id="170" name="R2-1-1"/>
            <p:cNvSpPr/>
            <p:nvPr/>
          </p:nvSpPr>
          <p:spPr>
            <a:xfrm flipV="1">
              <a:off x="7246144" y="5498421"/>
              <a:ext cx="209160" cy="209160"/>
            </a:xfrm>
            <a:prstGeom prst="rect">
              <a:avLst/>
            </a:prstGeom>
            <a:solidFill>
              <a:srgbClr val="BCE3DD"/>
            </a:solidFill>
            <a:ln w="9525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6" name="D-input-state-anchor"/>
          <p:cNvSpPr/>
          <p:nvPr/>
        </p:nvSpPr>
        <p:spPr>
          <a:xfrm>
            <a:off x="9618243" y="4181608"/>
            <a:ext cx="133308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2" name="组合 351">
            <a:extLst>
              <a:ext uri="{FF2B5EF4-FFF2-40B4-BE49-F238E27FC236}">
                <a16:creationId xmlns:a16="http://schemas.microsoft.com/office/drawing/2014/main" id="{177A17EC-7072-3984-B9E1-801B41CC1399}"/>
              </a:ext>
            </a:extLst>
          </p:cNvPr>
          <p:cNvGrpSpPr/>
          <p:nvPr/>
        </p:nvGrpSpPr>
        <p:grpSpPr>
          <a:xfrm>
            <a:off x="9768128" y="3787091"/>
            <a:ext cx="3025800" cy="4517815"/>
            <a:chOff x="9735243" y="3770313"/>
            <a:chExt cx="3025800" cy="4517815"/>
          </a:xfrm>
        </p:grpSpPr>
        <p:sp>
          <p:nvSpPr>
            <p:cNvPr id="240" name="panel-d"/>
            <p:cNvSpPr/>
            <p:nvPr/>
          </p:nvSpPr>
          <p:spPr>
            <a:xfrm>
              <a:off x="9735243" y="3770313"/>
              <a:ext cx="2791800" cy="4517815"/>
            </a:xfrm>
            <a:prstGeom prst="roundRect">
              <a:avLst>
                <a:gd name="adj" fmla="val 2046"/>
              </a:avLst>
            </a:prstGeom>
            <a:noFill/>
            <a:ln w="15240">
              <a:solidFill>
                <a:srgbClr val="3B74C5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D-input-delta-anchor"/>
            <p:cNvSpPr/>
            <p:nvPr/>
          </p:nvSpPr>
          <p:spPr>
            <a:xfrm>
              <a:off x="11427963" y="3946716"/>
              <a:ext cx="1333080" cy="63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D-input-state-label"/>
            <p:cNvSpPr/>
            <p:nvPr/>
          </p:nvSpPr>
          <p:spPr>
            <a:xfrm>
              <a:off x="9959163" y="3955105"/>
              <a:ext cx="1333080" cy="25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θ</a:t>
              </a:r>
              <a:r>
                <a:rPr lang="en-US" sz="109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state</a:t>
              </a:r>
              <a:endParaRPr lang="en-US" sz="10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D-input-state-vector-1"/>
            <p:cNvSpPr/>
            <p:nvPr/>
          </p:nvSpPr>
          <p:spPr>
            <a:xfrm>
              <a:off x="10083003" y="4179276"/>
              <a:ext cx="180720" cy="180720"/>
            </a:xfrm>
            <a:prstGeom prst="rect">
              <a:avLst/>
            </a:prstGeom>
            <a:solidFill>
              <a:srgbClr val="DFC9EE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D-input-state-vector-2"/>
            <p:cNvSpPr/>
            <p:nvPr/>
          </p:nvSpPr>
          <p:spPr>
            <a:xfrm>
              <a:off x="10263723" y="4179276"/>
              <a:ext cx="180720" cy="180720"/>
            </a:xfrm>
            <a:prstGeom prst="rect">
              <a:avLst/>
            </a:prstGeom>
            <a:solidFill>
              <a:srgbClr val="DFC9EE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D-input-state-vector-3"/>
            <p:cNvSpPr/>
            <p:nvPr/>
          </p:nvSpPr>
          <p:spPr>
            <a:xfrm>
              <a:off x="10444803" y="4179276"/>
              <a:ext cx="180720" cy="180720"/>
            </a:xfrm>
            <a:prstGeom prst="rect">
              <a:avLst/>
            </a:prstGeom>
            <a:solidFill>
              <a:srgbClr val="DFC9EE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D-input-state-vector-4"/>
            <p:cNvSpPr/>
            <p:nvPr/>
          </p:nvSpPr>
          <p:spPr>
            <a:xfrm>
              <a:off x="10625883" y="4179276"/>
              <a:ext cx="180720" cy="180720"/>
            </a:xfrm>
            <a:prstGeom prst="rect">
              <a:avLst/>
            </a:prstGeom>
            <a:solidFill>
              <a:srgbClr val="DFC9EE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D-input-state-vector-5"/>
            <p:cNvSpPr/>
            <p:nvPr/>
          </p:nvSpPr>
          <p:spPr>
            <a:xfrm>
              <a:off x="10806603" y="4179276"/>
              <a:ext cx="180720" cy="180720"/>
            </a:xfrm>
            <a:prstGeom prst="rect">
              <a:avLst/>
            </a:prstGeom>
            <a:solidFill>
              <a:srgbClr val="DFC9EE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D-input-state-vector-6"/>
            <p:cNvSpPr/>
            <p:nvPr/>
          </p:nvSpPr>
          <p:spPr>
            <a:xfrm>
              <a:off x="10987683" y="4179276"/>
              <a:ext cx="180720" cy="180720"/>
            </a:xfrm>
            <a:prstGeom prst="rect">
              <a:avLst/>
            </a:prstGeom>
            <a:solidFill>
              <a:srgbClr val="DFC9EE"/>
            </a:solidFill>
            <a:ln w="9525">
              <a:solidFill>
                <a:srgbClr val="8B5BB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D-input-delta-label"/>
            <p:cNvSpPr/>
            <p:nvPr/>
          </p:nvSpPr>
          <p:spPr>
            <a:xfrm>
              <a:off x="11123403" y="3955105"/>
              <a:ext cx="1333080" cy="25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5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Δθ</a:t>
              </a:r>
              <a:endParaRPr lang="en-US" sz="16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D-input-delta-vector-1"/>
            <p:cNvSpPr/>
            <p:nvPr/>
          </p:nvSpPr>
          <p:spPr>
            <a:xfrm>
              <a:off x="11247243" y="4179276"/>
              <a:ext cx="180720" cy="180720"/>
            </a:xfrm>
            <a:prstGeom prst="rect">
              <a:avLst/>
            </a:prstGeom>
            <a:solidFill>
              <a:srgbClr val="DCEBCB"/>
            </a:solidFill>
            <a:ln w="9525">
              <a:solidFill>
                <a:srgbClr val="759E5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D-input-delta-vector-2"/>
            <p:cNvSpPr/>
            <p:nvPr/>
          </p:nvSpPr>
          <p:spPr>
            <a:xfrm>
              <a:off x="11427963" y="4179276"/>
              <a:ext cx="180720" cy="180720"/>
            </a:xfrm>
            <a:prstGeom prst="rect">
              <a:avLst/>
            </a:prstGeom>
            <a:solidFill>
              <a:srgbClr val="DCEBCB"/>
            </a:solidFill>
            <a:ln w="9525">
              <a:solidFill>
                <a:srgbClr val="759E5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D-input-delta-vector-3"/>
            <p:cNvSpPr/>
            <p:nvPr/>
          </p:nvSpPr>
          <p:spPr>
            <a:xfrm>
              <a:off x="11609043" y="4179276"/>
              <a:ext cx="180720" cy="180720"/>
            </a:xfrm>
            <a:prstGeom prst="rect">
              <a:avLst/>
            </a:prstGeom>
            <a:solidFill>
              <a:srgbClr val="DCEBCB"/>
            </a:solidFill>
            <a:ln w="9525">
              <a:solidFill>
                <a:srgbClr val="759E5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D-input-delta-vector-4"/>
            <p:cNvSpPr/>
            <p:nvPr/>
          </p:nvSpPr>
          <p:spPr>
            <a:xfrm>
              <a:off x="11790123" y="4179276"/>
              <a:ext cx="180720" cy="180720"/>
            </a:xfrm>
            <a:prstGeom prst="rect">
              <a:avLst/>
            </a:prstGeom>
            <a:solidFill>
              <a:srgbClr val="DCEBCB"/>
            </a:solidFill>
            <a:ln w="9525">
              <a:solidFill>
                <a:srgbClr val="759E5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D-input-delta-vector-5"/>
            <p:cNvSpPr/>
            <p:nvPr/>
          </p:nvSpPr>
          <p:spPr>
            <a:xfrm>
              <a:off x="11971203" y="4179276"/>
              <a:ext cx="180720" cy="180720"/>
            </a:xfrm>
            <a:prstGeom prst="rect">
              <a:avLst/>
            </a:prstGeom>
            <a:solidFill>
              <a:srgbClr val="DCEBCB"/>
            </a:solidFill>
            <a:ln w="9525">
              <a:solidFill>
                <a:srgbClr val="759E5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D-input-delta-vector-6"/>
            <p:cNvSpPr/>
            <p:nvPr/>
          </p:nvSpPr>
          <p:spPr>
            <a:xfrm>
              <a:off x="12151923" y="4179276"/>
              <a:ext cx="180720" cy="180720"/>
            </a:xfrm>
            <a:prstGeom prst="rect">
              <a:avLst/>
            </a:prstGeom>
            <a:solidFill>
              <a:srgbClr val="DCEBCB"/>
            </a:solidFill>
            <a:ln w="9525">
              <a:solidFill>
                <a:srgbClr val="759E5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D-anchored-ability"/>
            <p:cNvSpPr/>
            <p:nvPr/>
          </p:nvSpPr>
          <p:spPr>
            <a:xfrm>
              <a:off x="10115763" y="4567716"/>
              <a:ext cx="2169000" cy="498960"/>
            </a:xfrm>
            <a:prstGeom prst="roundRect">
              <a:avLst>
                <a:gd name="adj" fmla="val 8696"/>
              </a:avLst>
            </a:prstGeom>
            <a:noFill/>
            <a:ln w="1428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D-anchored-title"/>
            <p:cNvSpPr/>
            <p:nvPr/>
          </p:nvSpPr>
          <p:spPr>
            <a:xfrm>
              <a:off x="9904083" y="4572036"/>
              <a:ext cx="257148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30" b="1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Anchored concept ability</a:t>
              </a:r>
              <a:endParaRPr lang="en-US" sz="143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D-anchored-formula"/>
            <p:cNvSpPr/>
            <p:nvPr/>
          </p:nvSpPr>
          <p:spPr>
            <a:xfrm>
              <a:off x="10008483" y="4741956"/>
              <a:ext cx="2381040" cy="38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5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θ</a:t>
              </a:r>
              <a:r>
                <a:rPr lang="en-US" sz="130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s,c</a:t>
              </a:r>
              <a:r>
                <a:rPr lang="en-US" sz="195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 = </a:t>
              </a:r>
              <a:r>
                <a:rPr lang="en-US" sz="195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θ</a:t>
              </a:r>
              <a:r>
                <a:rPr lang="en-US" sz="130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state</a:t>
              </a:r>
              <a:r>
                <a:rPr lang="en-US" sz="195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 + </a:t>
              </a:r>
              <a:r>
                <a:rPr lang="en-US" sz="195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Δθ</a:t>
              </a:r>
              <a:endParaRPr lang="en-US" sz="1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D-q-masked-mean"/>
            <p:cNvSpPr/>
            <p:nvPr/>
          </p:nvSpPr>
          <p:spPr>
            <a:xfrm>
              <a:off x="9864843" y="5239400"/>
              <a:ext cx="1469880" cy="994680"/>
            </a:xfrm>
            <a:prstGeom prst="roundRect">
              <a:avLst>
                <a:gd name="adj" fmla="val 5063"/>
              </a:avLst>
            </a:prstGeom>
            <a:noFill/>
            <a:ln w="1428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D-q-title"/>
            <p:cNvSpPr/>
            <p:nvPr/>
          </p:nvSpPr>
          <p:spPr>
            <a:xfrm>
              <a:off x="9770883" y="5228240"/>
              <a:ext cx="1618920" cy="266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1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Q</a:t>
              </a:r>
              <a:r>
                <a:rPr lang="en-US" sz="150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-masked mean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D-q-grid-0-0"/>
            <p:cNvSpPr/>
            <p:nvPr/>
          </p:nvSpPr>
          <p:spPr>
            <a:xfrm>
              <a:off x="10350843" y="5501120"/>
              <a:ext cx="161640" cy="161640"/>
            </a:xfrm>
            <a:prstGeom prst="rect">
              <a:avLst/>
            </a:prstGeom>
            <a:solidFill>
              <a:srgbClr val="F0E6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D-q-grid-0-1"/>
            <p:cNvSpPr/>
            <p:nvPr/>
          </p:nvSpPr>
          <p:spPr>
            <a:xfrm>
              <a:off x="10512483" y="5501120"/>
              <a:ext cx="161640" cy="16164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D-q-grid-0-2"/>
            <p:cNvSpPr/>
            <p:nvPr/>
          </p:nvSpPr>
          <p:spPr>
            <a:xfrm>
              <a:off x="10674483" y="5501120"/>
              <a:ext cx="161640" cy="16164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D-q-grid-1-0"/>
            <p:cNvSpPr/>
            <p:nvPr/>
          </p:nvSpPr>
          <p:spPr>
            <a:xfrm>
              <a:off x="10350843" y="5663120"/>
              <a:ext cx="161640" cy="16164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D-q-grid-1-1"/>
            <p:cNvSpPr/>
            <p:nvPr/>
          </p:nvSpPr>
          <p:spPr>
            <a:xfrm>
              <a:off x="10512483" y="5663120"/>
              <a:ext cx="161640" cy="161640"/>
            </a:xfrm>
            <a:prstGeom prst="rect">
              <a:avLst/>
            </a:prstGeom>
            <a:solidFill>
              <a:srgbClr val="F0E6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D-q-grid-1-2"/>
            <p:cNvSpPr/>
            <p:nvPr/>
          </p:nvSpPr>
          <p:spPr>
            <a:xfrm>
              <a:off x="10674483" y="5663120"/>
              <a:ext cx="161640" cy="16164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D-q-grid-2-0"/>
            <p:cNvSpPr/>
            <p:nvPr/>
          </p:nvSpPr>
          <p:spPr>
            <a:xfrm>
              <a:off x="10350843" y="5825120"/>
              <a:ext cx="161640" cy="16164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D-q-grid-2-1"/>
            <p:cNvSpPr/>
            <p:nvPr/>
          </p:nvSpPr>
          <p:spPr>
            <a:xfrm>
              <a:off x="10512483" y="5825120"/>
              <a:ext cx="161640" cy="16164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D-q-grid-2-2"/>
            <p:cNvSpPr/>
            <p:nvPr/>
          </p:nvSpPr>
          <p:spPr>
            <a:xfrm>
              <a:off x="10674483" y="5825120"/>
              <a:ext cx="161640" cy="161640"/>
            </a:xfrm>
            <a:prstGeom prst="rect">
              <a:avLst/>
            </a:prstGeom>
            <a:solidFill>
              <a:srgbClr val="F0E6F8"/>
            </a:solidFill>
            <a:ln w="7620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D-q-formula"/>
            <p:cNvSpPr/>
            <p:nvPr/>
          </p:nvSpPr>
          <p:spPr>
            <a:xfrm>
              <a:off x="9779883" y="5960120"/>
              <a:ext cx="1618920" cy="29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θ</a:t>
              </a:r>
              <a:r>
                <a:rPr lang="en-US" sz="96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14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 = </a:t>
              </a:r>
              <a:r>
                <a:rPr lang="en-US" sz="145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mean</a:t>
              </a:r>
              <a:r>
                <a:rPr lang="en-US" sz="96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Q</a:t>
              </a:r>
              <a:r>
                <a:rPr lang="en-US" sz="14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(θ</a:t>
              </a:r>
              <a:r>
                <a:rPr lang="en-US" sz="96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s,c</a:t>
              </a:r>
              <a:r>
                <a:rPr lang="en-US" sz="14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)</a:t>
              </a:r>
              <a:endParaRPr lang="en-US" sz="14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D-exercise-id"/>
            <p:cNvSpPr/>
            <p:nvPr/>
          </p:nvSpPr>
          <p:spPr>
            <a:xfrm>
              <a:off x="11421843" y="5178920"/>
              <a:ext cx="952560" cy="384120"/>
            </a:xfrm>
            <a:prstGeom prst="roundRect">
              <a:avLst>
                <a:gd name="adj" fmla="val 13793"/>
              </a:avLst>
            </a:prstGeom>
            <a:solidFill>
              <a:srgbClr val="FFF1D8"/>
            </a:solidFill>
            <a:ln w="12383">
              <a:solidFill>
                <a:srgbClr val="E99A2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Exercise  </a:t>
              </a:r>
              <a:r>
                <a:rPr lang="en-US" sz="13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D-item-lookup"/>
            <p:cNvSpPr/>
            <p:nvPr/>
          </p:nvSpPr>
          <p:spPr>
            <a:xfrm>
              <a:off x="11430843" y="5766440"/>
              <a:ext cx="943560" cy="475200"/>
            </a:xfrm>
            <a:prstGeom prst="roundRect">
              <a:avLst>
                <a:gd name="adj" fmla="val 10811"/>
              </a:avLst>
            </a:prstGeom>
            <a:noFill/>
            <a:ln w="12383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8440" tIns="47520" rIns="28440" bIns="4752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Item lookup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b</a:t>
              </a:r>
              <a:r>
                <a:rPr lang="en-US" sz="82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12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,  a</a:t>
              </a:r>
              <a:r>
                <a:rPr lang="en-US" sz="82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1250" b="0" i="1" u="none" strike="noStrike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 &gt; 0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D-2pl"/>
            <p:cNvSpPr/>
            <p:nvPr/>
          </p:nvSpPr>
          <p:spPr>
            <a:xfrm>
              <a:off x="10140963" y="6505160"/>
              <a:ext cx="2152440" cy="330840"/>
            </a:xfrm>
            <a:prstGeom prst="roundRect">
              <a:avLst>
                <a:gd name="adj" fmla="val 11111"/>
              </a:avLst>
            </a:prstGeom>
            <a:noFill/>
            <a:ln w="14288">
              <a:solidFill>
                <a:srgbClr val="1515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8440" tIns="19080" rIns="28440" bIns="1908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920" b="0" u="none" strike="noStrike" dirty="0">
                  <a:solidFill>
                    <a:srgbClr val="151515"/>
                  </a:solidFill>
                  <a:effectLst/>
                  <a:uFillTx/>
                  <a:latin typeface="Times New Roman"/>
                  <a:ea typeface="Times New Roman"/>
                </a:rPr>
                <a:t>2PL  </a:t>
              </a:r>
              <a:r>
                <a:rPr lang="en-US" sz="192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σ</a:t>
              </a:r>
              <a:r>
                <a:rPr lang="en-US" sz="192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[a</a:t>
              </a:r>
              <a:r>
                <a:rPr lang="en-US" sz="127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192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(</a:t>
              </a:r>
              <a:r>
                <a:rPr lang="en-US" sz="192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θ</a:t>
              </a:r>
              <a:r>
                <a:rPr lang="en-US" sz="127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192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 − b</a:t>
              </a:r>
              <a:r>
                <a:rPr lang="en-US" sz="127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e</a:t>
              </a:r>
              <a:r>
                <a:rPr lang="en-US" sz="1920" b="0" i="1" u="none" strike="noStrike" dirty="0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)]</a:t>
              </a:r>
              <a:endParaRPr lang="en-US" sz="19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D-qmask-input-port"/>
            <p:cNvSpPr/>
            <p:nvPr/>
          </p:nvSpPr>
          <p:spPr>
            <a:xfrm>
              <a:off x="10588803" y="5058396"/>
              <a:ext cx="18720" cy="1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920" rIns="90000" bIns="-2592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41" name="直线箭头连接符 2321"/>
            <p:cNvCxnSpPr>
              <a:stCxn id="337" idx="2"/>
              <a:endCxn id="338" idx="0"/>
            </p:cNvCxnSpPr>
            <p:nvPr/>
          </p:nvCxnSpPr>
          <p:spPr>
            <a:xfrm>
              <a:off x="11898123" y="5563040"/>
              <a:ext cx="5040" cy="203760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p:sp>
          <p:nvSpPr>
            <p:cNvPr id="342" name="D-gauge-anchor"/>
            <p:cNvSpPr/>
            <p:nvPr/>
          </p:nvSpPr>
          <p:spPr>
            <a:xfrm>
              <a:off x="10392963" y="7053800"/>
              <a:ext cx="9997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43" name="直线箭头连接符 2325"/>
            <p:cNvCxnSpPr/>
            <p:nvPr/>
          </p:nvCxnSpPr>
          <p:spPr>
            <a:xfrm>
              <a:off x="11217003" y="6837440"/>
              <a:ext cx="360" cy="134280"/>
            </a:xfrm>
            <a:prstGeom prst="straightConnector1">
              <a:avLst/>
            </a:prstGeom>
            <a:ln w="17145">
              <a:solidFill>
                <a:srgbClr val="151515"/>
              </a:solidFill>
              <a:round/>
              <a:tailEnd type="arrow" w="med" len="med"/>
            </a:ln>
          </p:spPr>
        </p:cxnSp>
        <p:pic>
          <p:nvPicPr>
            <p:cNvPr id="344" name="图片 2326"/>
            <p:cNvPicPr/>
            <p:nvPr/>
          </p:nvPicPr>
          <p:blipFill>
            <a:blip r:embed="rId5"/>
            <a:srcRect t="19169" b="22261"/>
            <a:stretch/>
          </p:blipFill>
          <p:spPr>
            <a:xfrm>
              <a:off x="10574043" y="6896750"/>
              <a:ext cx="1285560" cy="75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5" name="D-output-label"/>
            <p:cNvSpPr/>
            <p:nvPr/>
          </p:nvSpPr>
          <p:spPr>
            <a:xfrm>
              <a:off x="10883643" y="7514438"/>
              <a:ext cx="66636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19080" rIns="38160" bIns="1908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100" b="0" i="1" u="none" strike="noStrike" dirty="0" err="1">
                  <a:solidFill>
                    <a:srgbClr val="151515"/>
                  </a:solidFill>
                  <a:effectLst/>
                  <a:uFillTx/>
                  <a:latin typeface="STIX Two Math"/>
                  <a:ea typeface="STIX Two Math"/>
                </a:rPr>
                <a:t>ŷ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46" name="FLOW | FLOW-0001"/>
            <p:cNvCxnSpPr/>
            <p:nvPr/>
          </p:nvCxnSpPr>
          <p:spPr>
            <a:xfrm>
              <a:off x="10632363" y="4385196"/>
              <a:ext cx="360" cy="18036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347" name="FLOW | FLOW-0001"/>
            <p:cNvCxnSpPr/>
            <p:nvPr/>
          </p:nvCxnSpPr>
          <p:spPr>
            <a:xfrm>
              <a:off x="11797683" y="4362876"/>
              <a:ext cx="360" cy="18036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cxnSp>
          <p:nvCxnSpPr>
            <p:cNvPr id="348" name="FLOW | FLOW-0001"/>
            <p:cNvCxnSpPr/>
            <p:nvPr/>
          </p:nvCxnSpPr>
          <p:spPr>
            <a:xfrm>
              <a:off x="10435083" y="5060120"/>
              <a:ext cx="360" cy="172080"/>
            </a:xfrm>
            <a:prstGeom prst="straightConnector1">
              <a:avLst/>
            </a:prstGeom>
            <a:ln w="20003">
              <a:solidFill>
                <a:srgbClr val="151515"/>
              </a:solidFill>
              <a:round/>
              <a:tailEnd type="triangle" w="med" len="med"/>
            </a:ln>
          </p:spPr>
        </p:cxnSp>
        <p:sp>
          <p:nvSpPr>
            <p:cNvPr id="349" name="右大括号 39"/>
            <p:cNvSpPr/>
            <p:nvPr/>
          </p:nvSpPr>
          <p:spPr>
            <a:xfrm rot="5400000">
              <a:off x="11103243" y="5738720"/>
              <a:ext cx="231840" cy="122652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" name="矩形 264">
              <a:extLst>
                <a:ext uri="{FF2B5EF4-FFF2-40B4-BE49-F238E27FC236}">
                  <a16:creationId xmlns:a16="http://schemas.microsoft.com/office/drawing/2014/main" id="{8F09D627-D64C-BE51-23F4-8F6C272D7BD4}"/>
                </a:ext>
              </a:extLst>
            </p:cNvPr>
            <p:cNvSpPr/>
            <p:nvPr/>
          </p:nvSpPr>
          <p:spPr>
            <a:xfrm>
              <a:off x="9751563" y="7911779"/>
              <a:ext cx="2796295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360" tIns="0" rIns="9360" bIns="0" anchor="ctr">
              <a:normAutofit fontScale="92500"/>
            </a:bodyPr>
            <a:lstStyle/>
            <a:p>
              <a:pPr algn="ctr">
                <a:tabLst>
                  <a:tab pos="0" algn="l"/>
                </a:tabLst>
              </a:pPr>
              <a:r>
                <a:rPr lang="zh-CN" altLang="zh-CN" sz="2170" b="1" dirty="0">
                  <a:solidFill>
                    <a:srgbClr val="151515"/>
                  </a:solidFill>
                  <a:latin typeface="Times New Roman"/>
                </a:rPr>
                <a:t>(d) Ability &amp; Prediction</a:t>
              </a:r>
              <a:endParaRPr lang="en-US" sz="2170" b="1" dirty="0">
                <a:solidFill>
                  <a:srgbClr val="151515"/>
                </a:solidFill>
                <a:latin typeface="Times New Roman"/>
              </a:endParaRPr>
            </a:p>
          </p:txBody>
        </p:sp>
      </p:grp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73F970F6-B70F-783E-6E99-4BE4FCE88E68}"/>
              </a:ext>
            </a:extLst>
          </p:cNvPr>
          <p:cNvCxnSpPr>
            <a:cxnSpLocks/>
          </p:cNvCxnSpPr>
          <p:nvPr/>
        </p:nvCxnSpPr>
        <p:spPr>
          <a:xfrm>
            <a:off x="11822828" y="2885813"/>
            <a:ext cx="0" cy="1060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2" name="直线箭头连接符 371">
            <a:extLst>
              <a:ext uri="{FF2B5EF4-FFF2-40B4-BE49-F238E27FC236}">
                <a16:creationId xmlns:a16="http://schemas.microsoft.com/office/drawing/2014/main" id="{89D3EA58-40FE-5D59-3DD8-F1755451DC8A}"/>
              </a:ext>
            </a:extLst>
          </p:cNvPr>
          <p:cNvCxnSpPr>
            <a:cxnSpLocks/>
            <a:endCxn id="309" idx="1"/>
          </p:cNvCxnSpPr>
          <p:nvPr/>
        </p:nvCxnSpPr>
        <p:spPr>
          <a:xfrm>
            <a:off x="8352604" y="4286414"/>
            <a:ext cx="1763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215</Words>
  <Application>Microsoft Macintosh PowerPoint</Application>
  <PresentationFormat>自定义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 Unicode MS</vt:lpstr>
      <vt:lpstr>Arial</vt:lpstr>
      <vt:lpstr>Calibri</vt:lpstr>
      <vt:lpstr>Cambria Math</vt:lpstr>
      <vt:lpstr>STIX Two Math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钟苏华</cp:lastModifiedBy>
  <cp:revision>86</cp:revision>
  <dcterms:created xsi:type="dcterms:W3CDTF">2026-07-19T15:26:29Z</dcterms:created>
  <dcterms:modified xsi:type="dcterms:W3CDTF">2026-07-23T07:51:10Z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自定义</vt:lpwstr>
  </property>
  <property fmtid="{D5CDD505-2E9C-101B-9397-08002B2CF9AE}" pid="4" name="Slides">
    <vt:r8>1</vt:r8>
  </property>
</Properties>
</file>